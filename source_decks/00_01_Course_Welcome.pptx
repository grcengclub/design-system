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789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AJ: Welcome to the Certified GRC Engineer -- Practitioner course. I'm AJ Yawn, and I'm here with Abdie Mohamed. We're recording this from San Juan, Puerto Rico, and over the next few hours, we're going to fundamentally change how you think about governance, risk, and compliance.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Abdie: If you've spent any time in GRC, you know the pain -- spreadsheets that never end, screenshots as evidence, spending months preparing for an audit only to start the cycle over again. What if I told you there's a better way? That's what GRC Engineering is about.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AJ: GRC Engineering applies software engineering principles to compliance. Instead of documenting controls in Word documents, you codify them in Terraform. Instead of hoping someone follows a policy, you enforce it with code that literally prevents non-compliant deployments. By the end of this course, you'll be able to do all of that -- and you'll have a portfolio to prove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Abdie: This course is modeled after the AWS Cloud Practitioner certification -- it's designed to give you broad, foundational knowledge across the entire GRC Engineering discipline. You don't need to be a developer. You don't need Terraform experience. You just need curiosity and a willingness to think differently about compliance.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AJ: Here's how the course works. Chapters one through three cover foundations, Infrastructure as Code, and Policy as Code -- that's your conceptual and technical base. Chapters four through six cover CI/CD evidence pipelines, cloud-native security services, and OSCAL with continuous authorization -- that's where it all comes together. Chapter seven is your capstone, where you build a real GRC Engineering solution and submit it as your certification portfolio.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Abdie: And one more thing -- this isn't just a course. You're joining the GRC Engineering Club community. You'll have access to discussions, peer reviews on your capstone projects, and a network of people who are making this shift alongside you. AJ: Let's get started. See you in chapter 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4114800" cy="457200"/>
          </a:xfrm>
          <a:prstGeom prst="rect">
            <a:avLst/>
          </a:prstGeom>
          <a:noFill/>
        </p:spPr>
        <p:txBody>
          <a:bodyPr wrap="square" anchor="t"/>
          <a:lstStyle/>
          <a:p>
            <a:pPr algn="l"/>
            <a:r>
              <a:rPr sz="1300" b="1">
                <a:solidFill>
                  <a:srgbClr val="E8650A"/>
                </a:solidFill>
                <a:latin typeface="Inter"/>
              </a:rPr>
              <a:t>GRC ENGINEERING CLUB</a:t>
            </a:r>
          </a:p>
        </p:txBody>
      </p:sp>
      <p:sp>
        <p:nvSpPr>
          <p:cNvPr id="5" name="TextBox 4"/>
          <p:cNvSpPr txBox="1"/>
          <p:nvPr/>
        </p:nvSpPr>
        <p:spPr>
          <a:xfrm>
            <a:off x="731520" y="2011680"/>
            <a:ext cx="4114800" cy="1828800"/>
          </a:xfrm>
          <a:prstGeom prst="rect">
            <a:avLst/>
          </a:prstGeom>
          <a:noFill/>
        </p:spPr>
        <p:txBody>
          <a:bodyPr wrap="square" anchor="t"/>
          <a:lstStyle/>
          <a:p>
            <a:pPr algn="l"/>
            <a:r>
              <a:rPr sz="4400" b="1" dirty="0">
                <a:solidFill>
                  <a:srgbClr val="FFFFFF"/>
                </a:solidFill>
                <a:latin typeface="Inter"/>
              </a:rPr>
              <a:t>Certified GRC Engineer — Practitioner</a:t>
            </a:r>
          </a:p>
        </p:txBody>
      </p:sp>
      <p:sp>
        <p:nvSpPr>
          <p:cNvPr id="6" name="TextBox 5"/>
          <p:cNvSpPr txBox="1"/>
          <p:nvPr/>
        </p:nvSpPr>
        <p:spPr>
          <a:xfrm>
            <a:off x="731520" y="4617720"/>
            <a:ext cx="4114800" cy="731520"/>
          </a:xfrm>
          <a:prstGeom prst="rect">
            <a:avLst/>
          </a:prstGeom>
          <a:noFill/>
        </p:spPr>
        <p:txBody>
          <a:bodyPr wrap="square" anchor="t"/>
          <a:lstStyle/>
          <a:p>
            <a:pPr algn="l"/>
            <a:r>
              <a:rPr sz="1600" b="0">
                <a:solidFill>
                  <a:srgbClr val="A0A0A0"/>
                </a:solidFill>
                <a:latin typeface="Inter"/>
              </a:rPr>
              <a:t>Welcome to the Course</a:t>
            </a:r>
          </a:p>
        </p:txBody>
      </p:sp>
      <p:sp>
        <p:nvSpPr>
          <p:cNvPr id="7" name="Rectangle 6"/>
          <p:cNvSpPr/>
          <p:nvPr/>
        </p:nvSpPr>
        <p:spPr>
          <a:xfrm>
            <a:off x="731520" y="5029200"/>
            <a:ext cx="3200400" cy="1828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212080"/>
            <a:ext cx="3200400" cy="365760"/>
          </a:xfrm>
          <a:prstGeom prst="rect">
            <a:avLst/>
          </a:prstGeom>
          <a:noFill/>
        </p:spPr>
        <p:txBody>
          <a:bodyPr wrap="square" anchor="t"/>
          <a:lstStyle/>
          <a:p>
            <a:pPr algn="l"/>
            <a:r>
              <a:rPr sz="1300" b="0">
                <a:solidFill>
                  <a:srgbClr val="F5F5F5"/>
                </a:solidFill>
                <a:latin typeface="Inter"/>
              </a:rPr>
              <a:t>AJ Yawn  |  Abdie Mohamed</a:t>
            </a:r>
          </a:p>
        </p:txBody>
      </p:sp>
      <p:sp>
        <p:nvSpPr>
          <p:cNvPr id="9" name="TextBox 8"/>
          <p:cNvSpPr txBox="1"/>
          <p:nvPr/>
        </p:nvSpPr>
        <p:spPr>
          <a:xfrm>
            <a:off x="731520" y="5577840"/>
            <a:ext cx="3200400" cy="365760"/>
          </a:xfrm>
          <a:prstGeom prst="rect">
            <a:avLst/>
          </a:prstGeom>
          <a:noFill/>
        </p:spPr>
        <p:txBody>
          <a:bodyPr wrap="square" anchor="t"/>
          <a:lstStyle/>
          <a:p>
            <a:pPr algn="l"/>
            <a:r>
              <a:rPr sz="1100" b="0">
                <a:solidFill>
                  <a:srgbClr val="A0A0A0"/>
                </a:solidFill>
                <a:latin typeface="Inter"/>
              </a:rPr>
              <a:t>2026</a:t>
            </a:r>
          </a:p>
        </p:txBody>
      </p:sp>
      <p:sp>
        <p:nvSpPr>
          <p:cNvPr id="10" name="TextBox 9"/>
          <p:cNvSpPr txBox="1"/>
          <p:nvPr/>
        </p:nvSpPr>
        <p:spPr>
          <a:xfrm>
            <a:off x="5669280" y="1828800"/>
            <a:ext cx="5943600" cy="3200400"/>
          </a:xfrm>
          <a:prstGeom prst="rect">
            <a:avLst/>
          </a:prstGeom>
          <a:noFill/>
        </p:spPr>
        <p:txBody>
          <a:bodyPr wrap="square" anchor="t"/>
          <a:lstStyle/>
          <a:p>
            <a:pPr algn="l"/>
            <a:r>
              <a:rPr lang="en-US" sz="14000" b="1" dirty="0">
                <a:solidFill>
                  <a:srgbClr val="1A1A1A"/>
                </a:solidFill>
                <a:latin typeface="Inter"/>
              </a:rPr>
              <a:t>CGE-P</a:t>
            </a:r>
            <a:endParaRPr sz="14000" b="1" dirty="0">
              <a:solidFill>
                <a:srgbClr val="1A1A1A"/>
              </a:solidFill>
              <a:latin typeface="Inter"/>
            </a:endParaRPr>
          </a:p>
        </p:txBody>
      </p:sp>
      <p:sp>
        <p:nvSpPr>
          <p:cNvPr id="11" name="TextBox 10"/>
          <p:cNvSpPr txBox="1"/>
          <p:nvPr/>
        </p:nvSpPr>
        <p:spPr>
          <a:xfrm>
            <a:off x="5669280" y="5577840"/>
            <a:ext cx="5943600" cy="365760"/>
          </a:xfrm>
          <a:prstGeom prst="rect">
            <a:avLst/>
          </a:prstGeom>
          <a:noFill/>
        </p:spPr>
        <p:txBody>
          <a:bodyPr wrap="square" anchor="t"/>
          <a:lstStyle/>
          <a:p>
            <a:pPr algn="l"/>
            <a:r>
              <a:rPr sz="1200" b="0">
                <a:solidFill>
                  <a:srgbClr val="E8650A"/>
                </a:solidFill>
                <a:latin typeface="Inter"/>
              </a:rPr>
              <a:t>grcengclub.com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3657600" cy="274320"/>
          </a:xfrm>
          <a:prstGeom prst="rect">
            <a:avLst/>
          </a:prstGeom>
          <a:noFill/>
        </p:spPr>
        <p:txBody>
          <a:bodyPr wrap="square" anchor="t"/>
          <a:lstStyle/>
          <a:p>
            <a:pPr algn="l"/>
            <a:r>
              <a:rPr sz="1100" b="1">
                <a:solidFill>
                  <a:srgbClr val="E8650A"/>
                </a:solidFill>
                <a:latin typeface="Inter"/>
              </a:rPr>
              <a:t>THE PROBLEM</a:t>
            </a:r>
          </a:p>
        </p:txBody>
      </p:sp>
      <p:sp>
        <p:nvSpPr>
          <p:cNvPr id="3" name="TextBox 2"/>
          <p:cNvSpPr txBox="1"/>
          <p:nvPr/>
        </p:nvSpPr>
        <p:spPr>
          <a:xfrm>
            <a:off x="731520" y="914400"/>
            <a:ext cx="8229600" cy="914400"/>
          </a:xfrm>
          <a:prstGeom prst="rect">
            <a:avLst/>
          </a:prstGeom>
          <a:noFill/>
        </p:spPr>
        <p:txBody>
          <a:bodyPr wrap="square" anchor="t"/>
          <a:lstStyle/>
          <a:p>
            <a:pPr algn="l"/>
            <a:r>
              <a:rPr sz="3600" b="1">
                <a:solidFill>
                  <a:srgbClr val="FFFFFF"/>
                </a:solidFill>
                <a:latin typeface="Inter"/>
              </a:rPr>
              <a:t>The GRC Problem</a:t>
            </a:r>
          </a:p>
        </p:txBody>
      </p:sp>
      <p:sp>
        <p:nvSpPr>
          <p:cNvPr id="4" name="Rectangle 3"/>
          <p:cNvSpPr/>
          <p:nvPr/>
        </p:nvSpPr>
        <p:spPr>
          <a:xfrm>
            <a:off x="731520" y="2011680"/>
            <a:ext cx="9601200" cy="1188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2011680"/>
            <a:ext cx="54864" cy="118872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2148840"/>
            <a:ext cx="8686800" cy="365760"/>
          </a:xfrm>
          <a:prstGeom prst="rect">
            <a:avLst/>
          </a:prstGeom>
          <a:noFill/>
        </p:spPr>
        <p:txBody>
          <a:bodyPr wrap="square" anchor="t"/>
          <a:lstStyle/>
          <a:p>
            <a:pPr algn="l"/>
            <a:r>
              <a:rPr sz="1700" b="1">
                <a:solidFill>
                  <a:srgbClr val="FFFFFF"/>
                </a:solidFill>
                <a:latin typeface="Inter"/>
              </a:rPr>
              <a:t>Manual evidence collection</a:t>
            </a:r>
          </a:p>
        </p:txBody>
      </p:sp>
      <p:sp>
        <p:nvSpPr>
          <p:cNvPr id="7" name="TextBox 6"/>
          <p:cNvSpPr txBox="1"/>
          <p:nvPr/>
        </p:nvSpPr>
        <p:spPr>
          <a:xfrm>
            <a:off x="1188720" y="2560320"/>
            <a:ext cx="8686800" cy="457200"/>
          </a:xfrm>
          <a:prstGeom prst="rect">
            <a:avLst/>
          </a:prstGeom>
          <a:noFill/>
        </p:spPr>
        <p:txBody>
          <a:bodyPr wrap="square" anchor="t"/>
          <a:lstStyle/>
          <a:p>
            <a:pPr algn="l"/>
            <a:r>
              <a:rPr sz="1300" b="0">
                <a:solidFill>
                  <a:srgbClr val="A0A0A0"/>
                </a:solidFill>
                <a:latin typeface="Inter"/>
              </a:rPr>
              <a:t>Teams spend hours gathering screenshots and exporting logs to prove controls are operating.</a:t>
            </a:r>
          </a:p>
        </p:txBody>
      </p:sp>
      <p:sp>
        <p:nvSpPr>
          <p:cNvPr id="8" name="Rectangle 7"/>
          <p:cNvSpPr/>
          <p:nvPr/>
        </p:nvSpPr>
        <p:spPr>
          <a:xfrm>
            <a:off x="731520" y="3383280"/>
            <a:ext cx="9601200" cy="1188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3383280"/>
            <a:ext cx="54864" cy="118872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3520440"/>
            <a:ext cx="8686800" cy="365760"/>
          </a:xfrm>
          <a:prstGeom prst="rect">
            <a:avLst/>
          </a:prstGeom>
          <a:noFill/>
        </p:spPr>
        <p:txBody>
          <a:bodyPr wrap="square" anchor="t"/>
          <a:lstStyle/>
          <a:p>
            <a:pPr algn="l"/>
            <a:r>
              <a:rPr sz="1700" b="1">
                <a:solidFill>
                  <a:srgbClr val="FFFFFF"/>
                </a:solidFill>
                <a:latin typeface="Inter"/>
              </a:rPr>
              <a:t>Point-in-time assessments</a:t>
            </a:r>
          </a:p>
        </p:txBody>
      </p:sp>
      <p:sp>
        <p:nvSpPr>
          <p:cNvPr id="11" name="TextBox 10"/>
          <p:cNvSpPr txBox="1"/>
          <p:nvPr/>
        </p:nvSpPr>
        <p:spPr>
          <a:xfrm>
            <a:off x="1188720" y="3931920"/>
            <a:ext cx="8686800" cy="457200"/>
          </a:xfrm>
          <a:prstGeom prst="rect">
            <a:avLst/>
          </a:prstGeom>
          <a:noFill/>
        </p:spPr>
        <p:txBody>
          <a:bodyPr wrap="square" anchor="t"/>
          <a:lstStyle/>
          <a:p>
            <a:pPr algn="l"/>
            <a:r>
              <a:rPr sz="1300" b="0">
                <a:solidFill>
                  <a:srgbClr val="A0A0A0"/>
                </a:solidFill>
                <a:latin typeface="Inter"/>
              </a:rPr>
              <a:t>Compliance is verified at a single moment, missing drift and changes between audit cycles.</a:t>
            </a:r>
          </a:p>
        </p:txBody>
      </p:sp>
      <p:sp>
        <p:nvSpPr>
          <p:cNvPr id="12" name="Rectangle 11"/>
          <p:cNvSpPr/>
          <p:nvPr/>
        </p:nvSpPr>
        <p:spPr>
          <a:xfrm>
            <a:off x="731520" y="4754880"/>
            <a:ext cx="9601200" cy="1188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4754880"/>
            <a:ext cx="54864" cy="118872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4892040"/>
            <a:ext cx="8686800" cy="365760"/>
          </a:xfrm>
          <a:prstGeom prst="rect">
            <a:avLst/>
          </a:prstGeom>
          <a:noFill/>
        </p:spPr>
        <p:txBody>
          <a:bodyPr wrap="square" anchor="t"/>
          <a:lstStyle/>
          <a:p>
            <a:pPr algn="l"/>
            <a:r>
              <a:rPr sz="1700" b="1">
                <a:solidFill>
                  <a:srgbClr val="FFFFFF"/>
                </a:solidFill>
                <a:latin typeface="Inter"/>
              </a:rPr>
              <a:t>Documentation ≠ reality</a:t>
            </a:r>
          </a:p>
        </p:txBody>
      </p:sp>
      <p:sp>
        <p:nvSpPr>
          <p:cNvPr id="15" name="TextBox 14"/>
          <p:cNvSpPr txBox="1"/>
          <p:nvPr/>
        </p:nvSpPr>
        <p:spPr>
          <a:xfrm>
            <a:off x="1188720" y="5303520"/>
            <a:ext cx="8686800" cy="457200"/>
          </a:xfrm>
          <a:prstGeom prst="rect">
            <a:avLst/>
          </a:prstGeom>
          <a:noFill/>
        </p:spPr>
        <p:txBody>
          <a:bodyPr wrap="square" anchor="t"/>
          <a:lstStyle/>
          <a:p>
            <a:pPr algn="l"/>
            <a:r>
              <a:rPr sz="1300" b="0">
                <a:solidFill>
                  <a:srgbClr val="A0A0A0"/>
                </a:solidFill>
                <a:latin typeface="Inter"/>
              </a:rPr>
              <a:t>What is documented in policies rarely reflects what is actually deployed and enforced.</a:t>
            </a:r>
          </a:p>
        </p:txBody>
      </p:sp>
      <p:sp>
        <p:nvSpPr>
          <p:cNvPr id="16" name="Rectangle 15"/>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6537960"/>
            <a:ext cx="5486400" cy="274320"/>
          </a:xfrm>
          <a:prstGeom prst="rect">
            <a:avLst/>
          </a:prstGeom>
          <a:noFill/>
        </p:spPr>
        <p:txBody>
          <a:bodyPr wrap="square" anchor="t"/>
          <a:lstStyle/>
          <a:p>
            <a:pPr algn="l"/>
            <a:r>
              <a:rPr sz="900" b="0">
                <a:solidFill>
                  <a:srgbClr val="A0A0A0"/>
                </a:solidFill>
                <a:latin typeface="Inter"/>
              </a:rPr>
              <a:t>GRC Engineering Club  |  grcengclub.com</a:t>
            </a:r>
          </a:p>
        </p:txBody>
      </p:sp>
      <p:sp>
        <p:nvSpPr>
          <p:cNvPr id="18" name="TextBox 17"/>
          <p:cNvSpPr txBox="1"/>
          <p:nvPr/>
        </p:nvSpPr>
        <p:spPr>
          <a:xfrm>
            <a:off x="9875825" y="6537960"/>
            <a:ext cx="1371600" cy="274320"/>
          </a:xfrm>
          <a:prstGeom prst="rect">
            <a:avLst/>
          </a:prstGeom>
          <a:noFill/>
        </p:spPr>
        <p:txBody>
          <a:bodyPr wrap="square" anchor="t"/>
          <a:lstStyle/>
          <a:p>
            <a:pPr algn="r"/>
            <a:r>
              <a:rPr sz="1000" b="0">
                <a:solidFill>
                  <a:srgbClr val="A0A0A0"/>
                </a:solidFill>
                <a:latin typeface="Inter"/>
              </a:rPr>
              <a:t>2 /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3657600" cy="274320"/>
          </a:xfrm>
          <a:prstGeom prst="rect">
            <a:avLst/>
          </a:prstGeom>
          <a:noFill/>
        </p:spPr>
        <p:txBody>
          <a:bodyPr wrap="square" anchor="t"/>
          <a:lstStyle/>
          <a:p>
            <a:pPr algn="l"/>
            <a:r>
              <a:rPr sz="1100" b="1">
                <a:solidFill>
                  <a:srgbClr val="E8650A"/>
                </a:solidFill>
                <a:latin typeface="Inter"/>
              </a:rPr>
              <a:t>THE APPROACH</a:t>
            </a:r>
          </a:p>
        </p:txBody>
      </p:sp>
      <p:sp>
        <p:nvSpPr>
          <p:cNvPr id="3" name="TextBox 2"/>
          <p:cNvSpPr txBox="1"/>
          <p:nvPr/>
        </p:nvSpPr>
        <p:spPr>
          <a:xfrm>
            <a:off x="731520" y="914400"/>
            <a:ext cx="8229600" cy="914400"/>
          </a:xfrm>
          <a:prstGeom prst="rect">
            <a:avLst/>
          </a:prstGeom>
          <a:noFill/>
        </p:spPr>
        <p:txBody>
          <a:bodyPr wrap="square" anchor="t"/>
          <a:lstStyle/>
          <a:p>
            <a:pPr algn="l"/>
            <a:r>
              <a:rPr sz="3600" b="1">
                <a:solidFill>
                  <a:srgbClr val="FFFFFF"/>
                </a:solidFill>
                <a:latin typeface="Inter"/>
              </a:rPr>
              <a:t>GRC Engineering</a:t>
            </a:r>
          </a:p>
        </p:txBody>
      </p:sp>
      <p:sp>
        <p:nvSpPr>
          <p:cNvPr id="4" name="TextBox 3"/>
          <p:cNvSpPr txBox="1"/>
          <p:nvPr/>
        </p:nvSpPr>
        <p:spPr>
          <a:xfrm>
            <a:off x="731520" y="1645920"/>
            <a:ext cx="9144000" cy="365760"/>
          </a:xfrm>
          <a:prstGeom prst="rect">
            <a:avLst/>
          </a:prstGeom>
          <a:noFill/>
        </p:spPr>
        <p:txBody>
          <a:bodyPr wrap="square" anchor="t"/>
          <a:lstStyle/>
          <a:p>
            <a:pPr algn="l"/>
            <a:r>
              <a:rPr sz="1400" b="0">
                <a:solidFill>
                  <a:srgbClr val="A0A0A0"/>
                </a:solidFill>
                <a:latin typeface="Inter"/>
              </a:rPr>
              <a:t>▸  Shift from manual documentation to automated, code-driven compliance.</a:t>
            </a:r>
          </a:p>
        </p:txBody>
      </p:sp>
      <p:sp>
        <p:nvSpPr>
          <p:cNvPr id="5" name="Rectangle 4"/>
          <p:cNvSpPr/>
          <p:nvPr/>
        </p:nvSpPr>
        <p:spPr>
          <a:xfrm>
            <a:off x="731520" y="2377440"/>
            <a:ext cx="43891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77440"/>
            <a:ext cx="54864" cy="91440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2606040"/>
            <a:ext cx="3657600" cy="457200"/>
          </a:xfrm>
          <a:prstGeom prst="rect">
            <a:avLst/>
          </a:prstGeom>
          <a:noFill/>
        </p:spPr>
        <p:txBody>
          <a:bodyPr wrap="square" anchor="t"/>
          <a:lstStyle/>
          <a:p>
            <a:pPr algn="l"/>
            <a:r>
              <a:rPr sz="1800" b="1">
                <a:solidFill>
                  <a:srgbClr val="FFFFFF"/>
                </a:solidFill>
                <a:latin typeface="Inter"/>
              </a:rPr>
              <a:t>Infrastructure as Code</a:t>
            </a:r>
          </a:p>
        </p:txBody>
      </p:sp>
      <p:sp>
        <p:nvSpPr>
          <p:cNvPr id="8" name="TextBox 7"/>
          <p:cNvSpPr txBox="1"/>
          <p:nvPr/>
        </p:nvSpPr>
        <p:spPr>
          <a:xfrm>
            <a:off x="5303520" y="2560320"/>
            <a:ext cx="731520" cy="457200"/>
          </a:xfrm>
          <a:prstGeom prst="rect">
            <a:avLst/>
          </a:prstGeom>
          <a:noFill/>
        </p:spPr>
        <p:txBody>
          <a:bodyPr wrap="square" anchor="t"/>
          <a:lstStyle/>
          <a:p>
            <a:pPr algn="ctr"/>
            <a:r>
              <a:rPr sz="2800" b="1">
                <a:solidFill>
                  <a:srgbClr val="E8650A"/>
                </a:solidFill>
                <a:latin typeface="Inter"/>
              </a:rPr>
              <a:t>→</a:t>
            </a:r>
          </a:p>
        </p:txBody>
      </p:sp>
      <p:sp>
        <p:nvSpPr>
          <p:cNvPr id="9" name="Rectangle 8"/>
          <p:cNvSpPr/>
          <p:nvPr/>
        </p:nvSpPr>
        <p:spPr>
          <a:xfrm>
            <a:off x="6217920" y="2377440"/>
            <a:ext cx="43891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0" y="2377440"/>
            <a:ext cx="54864" cy="91440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2606040"/>
            <a:ext cx="3657600" cy="457200"/>
          </a:xfrm>
          <a:prstGeom prst="rect">
            <a:avLst/>
          </a:prstGeom>
          <a:noFill/>
        </p:spPr>
        <p:txBody>
          <a:bodyPr wrap="square" anchor="t"/>
          <a:lstStyle/>
          <a:p>
            <a:pPr algn="l"/>
            <a:r>
              <a:rPr sz="1800" b="1">
                <a:solidFill>
                  <a:srgbClr val="FFFFFF"/>
                </a:solidFill>
                <a:latin typeface="Inter"/>
              </a:rPr>
              <a:t>Compliance by Default</a:t>
            </a:r>
          </a:p>
        </p:txBody>
      </p:sp>
      <p:sp>
        <p:nvSpPr>
          <p:cNvPr id="12" name="Rectangle 11"/>
          <p:cNvSpPr/>
          <p:nvPr/>
        </p:nvSpPr>
        <p:spPr>
          <a:xfrm>
            <a:off x="731520" y="3520440"/>
            <a:ext cx="43891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520440"/>
            <a:ext cx="54864" cy="91440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3749040"/>
            <a:ext cx="3657600" cy="457200"/>
          </a:xfrm>
          <a:prstGeom prst="rect">
            <a:avLst/>
          </a:prstGeom>
          <a:noFill/>
        </p:spPr>
        <p:txBody>
          <a:bodyPr wrap="square" anchor="t"/>
          <a:lstStyle/>
          <a:p>
            <a:pPr algn="l"/>
            <a:r>
              <a:rPr sz="1800" b="1">
                <a:solidFill>
                  <a:srgbClr val="FFFFFF"/>
                </a:solidFill>
                <a:latin typeface="Inter"/>
              </a:rPr>
              <a:t>Policy as Code</a:t>
            </a:r>
          </a:p>
        </p:txBody>
      </p:sp>
      <p:sp>
        <p:nvSpPr>
          <p:cNvPr id="15" name="TextBox 14"/>
          <p:cNvSpPr txBox="1"/>
          <p:nvPr/>
        </p:nvSpPr>
        <p:spPr>
          <a:xfrm>
            <a:off x="5303520" y="3703320"/>
            <a:ext cx="731520" cy="457200"/>
          </a:xfrm>
          <a:prstGeom prst="rect">
            <a:avLst/>
          </a:prstGeom>
          <a:noFill/>
        </p:spPr>
        <p:txBody>
          <a:bodyPr wrap="square" anchor="t"/>
          <a:lstStyle/>
          <a:p>
            <a:pPr algn="ctr"/>
            <a:r>
              <a:rPr sz="2800" b="1">
                <a:solidFill>
                  <a:srgbClr val="E8650A"/>
                </a:solidFill>
                <a:latin typeface="Inter"/>
              </a:rPr>
              <a:t>→</a:t>
            </a:r>
          </a:p>
        </p:txBody>
      </p:sp>
      <p:sp>
        <p:nvSpPr>
          <p:cNvPr id="16" name="Rectangle 15"/>
          <p:cNvSpPr/>
          <p:nvPr/>
        </p:nvSpPr>
        <p:spPr>
          <a:xfrm>
            <a:off x="6217920" y="3520440"/>
            <a:ext cx="43891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3520440"/>
            <a:ext cx="54864" cy="91440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3749040"/>
            <a:ext cx="3657600" cy="457200"/>
          </a:xfrm>
          <a:prstGeom prst="rect">
            <a:avLst/>
          </a:prstGeom>
          <a:noFill/>
        </p:spPr>
        <p:txBody>
          <a:bodyPr wrap="square" anchor="t"/>
          <a:lstStyle/>
          <a:p>
            <a:pPr algn="l"/>
            <a:r>
              <a:rPr sz="1800" b="1">
                <a:solidFill>
                  <a:srgbClr val="FFFFFF"/>
                </a:solidFill>
                <a:latin typeface="Inter"/>
              </a:rPr>
              <a:t>Automated Enforcement</a:t>
            </a:r>
          </a:p>
        </p:txBody>
      </p:sp>
      <p:sp>
        <p:nvSpPr>
          <p:cNvPr id="19" name="Rectangle 18"/>
          <p:cNvSpPr/>
          <p:nvPr/>
        </p:nvSpPr>
        <p:spPr>
          <a:xfrm>
            <a:off x="731520" y="4663440"/>
            <a:ext cx="43891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4663440"/>
            <a:ext cx="54864" cy="91440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88720" y="4892040"/>
            <a:ext cx="3657600" cy="457200"/>
          </a:xfrm>
          <a:prstGeom prst="rect">
            <a:avLst/>
          </a:prstGeom>
          <a:noFill/>
        </p:spPr>
        <p:txBody>
          <a:bodyPr wrap="square" anchor="t"/>
          <a:lstStyle/>
          <a:p>
            <a:pPr algn="l"/>
            <a:r>
              <a:rPr sz="1800" b="1">
                <a:solidFill>
                  <a:srgbClr val="FFFFFF"/>
                </a:solidFill>
                <a:latin typeface="Inter"/>
              </a:rPr>
              <a:t>CI/CD Integration</a:t>
            </a:r>
          </a:p>
        </p:txBody>
      </p:sp>
      <p:sp>
        <p:nvSpPr>
          <p:cNvPr id="22" name="TextBox 21"/>
          <p:cNvSpPr txBox="1"/>
          <p:nvPr/>
        </p:nvSpPr>
        <p:spPr>
          <a:xfrm>
            <a:off x="5303520" y="4846320"/>
            <a:ext cx="731520" cy="457200"/>
          </a:xfrm>
          <a:prstGeom prst="rect">
            <a:avLst/>
          </a:prstGeom>
          <a:noFill/>
        </p:spPr>
        <p:txBody>
          <a:bodyPr wrap="square" anchor="t"/>
          <a:lstStyle/>
          <a:p>
            <a:pPr algn="ctr"/>
            <a:r>
              <a:rPr sz="2800" b="1">
                <a:solidFill>
                  <a:srgbClr val="E8650A"/>
                </a:solidFill>
                <a:latin typeface="Inter"/>
              </a:rPr>
              <a:t>→</a:t>
            </a:r>
          </a:p>
        </p:txBody>
      </p:sp>
      <p:sp>
        <p:nvSpPr>
          <p:cNvPr id="23" name="Rectangle 22"/>
          <p:cNvSpPr/>
          <p:nvPr/>
        </p:nvSpPr>
        <p:spPr>
          <a:xfrm>
            <a:off x="6217920" y="4663440"/>
            <a:ext cx="43891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17920" y="4663440"/>
            <a:ext cx="54864" cy="91440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0" y="4892040"/>
            <a:ext cx="3657600" cy="457200"/>
          </a:xfrm>
          <a:prstGeom prst="rect">
            <a:avLst/>
          </a:prstGeom>
          <a:noFill/>
        </p:spPr>
        <p:txBody>
          <a:bodyPr wrap="square" anchor="t"/>
          <a:lstStyle/>
          <a:p>
            <a:pPr algn="l"/>
            <a:r>
              <a:rPr sz="1800" b="1">
                <a:solidFill>
                  <a:srgbClr val="FFFFFF"/>
                </a:solidFill>
                <a:latin typeface="Inter"/>
              </a:rPr>
              <a:t>Continuous Evidence</a:t>
            </a:r>
          </a:p>
        </p:txBody>
      </p:sp>
      <p:sp>
        <p:nvSpPr>
          <p:cNvPr id="26" name="Rectangle 25"/>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6537960"/>
            <a:ext cx="5486400" cy="274320"/>
          </a:xfrm>
          <a:prstGeom prst="rect">
            <a:avLst/>
          </a:prstGeom>
          <a:noFill/>
        </p:spPr>
        <p:txBody>
          <a:bodyPr wrap="square" anchor="t"/>
          <a:lstStyle/>
          <a:p>
            <a:pPr algn="l"/>
            <a:r>
              <a:rPr sz="900" b="0">
                <a:solidFill>
                  <a:srgbClr val="A0A0A0"/>
                </a:solidFill>
                <a:latin typeface="Inter"/>
              </a:rPr>
              <a:t>GRC Engineering Club  |  grcengclub.com</a:t>
            </a:r>
          </a:p>
        </p:txBody>
      </p:sp>
      <p:sp>
        <p:nvSpPr>
          <p:cNvPr id="28" name="TextBox 27"/>
          <p:cNvSpPr txBox="1"/>
          <p:nvPr/>
        </p:nvSpPr>
        <p:spPr>
          <a:xfrm>
            <a:off x="9875825" y="6537960"/>
            <a:ext cx="1371600" cy="274320"/>
          </a:xfrm>
          <a:prstGeom prst="rect">
            <a:avLst/>
          </a:prstGeom>
          <a:noFill/>
        </p:spPr>
        <p:txBody>
          <a:bodyPr wrap="square" anchor="t"/>
          <a:lstStyle/>
          <a:p>
            <a:pPr algn="r"/>
            <a:r>
              <a:rPr sz="1000" b="0">
                <a:solidFill>
                  <a:srgbClr val="A0A0A0"/>
                </a:solidFill>
                <a:latin typeface="Inter"/>
              </a:rPr>
              <a:t>3 / 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3657600" cy="274320"/>
          </a:xfrm>
          <a:prstGeom prst="rect">
            <a:avLst/>
          </a:prstGeom>
          <a:noFill/>
        </p:spPr>
        <p:txBody>
          <a:bodyPr wrap="square" anchor="t"/>
          <a:lstStyle/>
          <a:p>
            <a:pPr algn="l"/>
            <a:r>
              <a:rPr sz="1100" b="1">
                <a:solidFill>
                  <a:srgbClr val="E8650A"/>
                </a:solidFill>
                <a:latin typeface="Inter"/>
              </a:rPr>
              <a:t>CERTIFICATION</a:t>
            </a:r>
          </a:p>
        </p:txBody>
      </p:sp>
      <p:sp>
        <p:nvSpPr>
          <p:cNvPr id="3" name="TextBox 2"/>
          <p:cNvSpPr txBox="1"/>
          <p:nvPr/>
        </p:nvSpPr>
        <p:spPr>
          <a:xfrm>
            <a:off x="731520" y="914400"/>
            <a:ext cx="8229600" cy="914400"/>
          </a:xfrm>
          <a:prstGeom prst="rect">
            <a:avLst/>
          </a:prstGeom>
          <a:noFill/>
        </p:spPr>
        <p:txBody>
          <a:bodyPr wrap="square" anchor="t"/>
          <a:lstStyle/>
          <a:p>
            <a:pPr algn="l"/>
            <a:r>
              <a:rPr sz="3600" b="1">
                <a:solidFill>
                  <a:srgbClr val="FFFFFF"/>
                </a:solidFill>
                <a:latin typeface="Inter"/>
              </a:rPr>
              <a:t>CGE-P Certification</a:t>
            </a:r>
          </a:p>
        </p:txBody>
      </p:sp>
      <p:sp>
        <p:nvSpPr>
          <p:cNvPr id="4" name="Rectangle 3"/>
          <p:cNvSpPr/>
          <p:nvPr/>
        </p:nvSpPr>
        <p:spPr>
          <a:xfrm>
            <a:off x="731520" y="2011680"/>
            <a:ext cx="45720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2011680"/>
            <a:ext cx="54864" cy="10972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2148840"/>
            <a:ext cx="3840480" cy="365760"/>
          </a:xfrm>
          <a:prstGeom prst="rect">
            <a:avLst/>
          </a:prstGeom>
          <a:noFill/>
        </p:spPr>
        <p:txBody>
          <a:bodyPr wrap="square" anchor="t"/>
          <a:lstStyle/>
          <a:p>
            <a:pPr algn="l"/>
            <a:r>
              <a:rPr sz="1700" b="1">
                <a:solidFill>
                  <a:srgbClr val="FFFFFF"/>
                </a:solidFill>
                <a:latin typeface="Inter"/>
              </a:rPr>
              <a:t>7 Chapters</a:t>
            </a:r>
          </a:p>
        </p:txBody>
      </p:sp>
      <p:sp>
        <p:nvSpPr>
          <p:cNvPr id="7" name="TextBox 6"/>
          <p:cNvSpPr txBox="1"/>
          <p:nvPr/>
        </p:nvSpPr>
        <p:spPr>
          <a:xfrm>
            <a:off x="1097280" y="2560320"/>
            <a:ext cx="3840480" cy="457200"/>
          </a:xfrm>
          <a:prstGeom prst="rect">
            <a:avLst/>
          </a:prstGeom>
          <a:noFill/>
        </p:spPr>
        <p:txBody>
          <a:bodyPr wrap="square" anchor="t"/>
          <a:lstStyle/>
          <a:p>
            <a:pPr algn="l"/>
            <a:r>
              <a:rPr sz="1100" b="0">
                <a:solidFill>
                  <a:srgbClr val="A0A0A0"/>
                </a:solidFill>
                <a:latin typeface="Inter"/>
              </a:rPr>
              <a:t>Comprehensive coverage of GRC Engineering concepts and practices</a:t>
            </a:r>
          </a:p>
        </p:txBody>
      </p:sp>
      <p:sp>
        <p:nvSpPr>
          <p:cNvPr id="8" name="Rectangle 7"/>
          <p:cNvSpPr/>
          <p:nvPr/>
        </p:nvSpPr>
        <p:spPr>
          <a:xfrm>
            <a:off x="5669280" y="2011680"/>
            <a:ext cx="45720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0" y="2011680"/>
            <a:ext cx="54864" cy="10972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35040" y="2148840"/>
            <a:ext cx="3840480" cy="365760"/>
          </a:xfrm>
          <a:prstGeom prst="rect">
            <a:avLst/>
          </a:prstGeom>
          <a:noFill/>
        </p:spPr>
        <p:txBody>
          <a:bodyPr wrap="square" anchor="t"/>
          <a:lstStyle/>
          <a:p>
            <a:pPr algn="l"/>
            <a:r>
              <a:rPr sz="1700" b="1">
                <a:solidFill>
                  <a:srgbClr val="FFFFFF"/>
                </a:solidFill>
                <a:latin typeface="Inter"/>
              </a:rPr>
              <a:t>~3 hours of video</a:t>
            </a:r>
          </a:p>
        </p:txBody>
      </p:sp>
      <p:sp>
        <p:nvSpPr>
          <p:cNvPr id="11" name="TextBox 10"/>
          <p:cNvSpPr txBox="1"/>
          <p:nvPr/>
        </p:nvSpPr>
        <p:spPr>
          <a:xfrm>
            <a:off x="6035040" y="2560320"/>
            <a:ext cx="3840480" cy="457200"/>
          </a:xfrm>
          <a:prstGeom prst="rect">
            <a:avLst/>
          </a:prstGeom>
          <a:noFill/>
        </p:spPr>
        <p:txBody>
          <a:bodyPr wrap="square" anchor="t"/>
          <a:lstStyle/>
          <a:p>
            <a:pPr algn="l"/>
            <a:r>
              <a:rPr sz="1100" b="0">
                <a:solidFill>
                  <a:srgbClr val="A0A0A0"/>
                </a:solidFill>
                <a:latin typeface="Inter"/>
              </a:rPr>
              <a:t>Engaging content designed to build your understanding</a:t>
            </a:r>
          </a:p>
        </p:txBody>
      </p:sp>
      <p:sp>
        <p:nvSpPr>
          <p:cNvPr id="12" name="Rectangle 11"/>
          <p:cNvSpPr/>
          <p:nvPr/>
        </p:nvSpPr>
        <p:spPr>
          <a:xfrm>
            <a:off x="731520" y="3383280"/>
            <a:ext cx="45720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383280"/>
            <a:ext cx="54864" cy="10972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3520440"/>
            <a:ext cx="3840480" cy="365760"/>
          </a:xfrm>
          <a:prstGeom prst="rect">
            <a:avLst/>
          </a:prstGeom>
          <a:noFill/>
        </p:spPr>
        <p:txBody>
          <a:bodyPr wrap="square" anchor="t"/>
          <a:lstStyle/>
          <a:p>
            <a:pPr algn="l"/>
            <a:r>
              <a:rPr sz="1700" b="1">
                <a:solidFill>
                  <a:srgbClr val="FFFFFF"/>
                </a:solidFill>
                <a:latin typeface="Inter"/>
              </a:rPr>
              <a:t>6-8 hours total study</a:t>
            </a:r>
          </a:p>
        </p:txBody>
      </p:sp>
      <p:sp>
        <p:nvSpPr>
          <p:cNvPr id="15" name="TextBox 14"/>
          <p:cNvSpPr txBox="1"/>
          <p:nvPr/>
        </p:nvSpPr>
        <p:spPr>
          <a:xfrm>
            <a:off x="1097280" y="3931920"/>
            <a:ext cx="3840480" cy="457200"/>
          </a:xfrm>
          <a:prstGeom prst="rect">
            <a:avLst/>
          </a:prstGeom>
          <a:noFill/>
        </p:spPr>
        <p:txBody>
          <a:bodyPr wrap="square" anchor="t"/>
          <a:lstStyle/>
          <a:p>
            <a:pPr algn="l"/>
            <a:r>
              <a:rPr sz="1100" b="0">
                <a:solidFill>
                  <a:srgbClr val="A0A0A0"/>
                </a:solidFill>
                <a:latin typeface="Inter"/>
              </a:rPr>
              <a:t>Thorough preparation including reading and hands-on work</a:t>
            </a:r>
          </a:p>
        </p:txBody>
      </p:sp>
      <p:sp>
        <p:nvSpPr>
          <p:cNvPr id="16" name="Rectangle 15"/>
          <p:cNvSpPr/>
          <p:nvPr/>
        </p:nvSpPr>
        <p:spPr>
          <a:xfrm>
            <a:off x="5669280" y="3383280"/>
            <a:ext cx="45720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0" y="3383280"/>
            <a:ext cx="54864" cy="10972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0" y="3520440"/>
            <a:ext cx="3840480" cy="365760"/>
          </a:xfrm>
          <a:prstGeom prst="rect">
            <a:avLst/>
          </a:prstGeom>
          <a:noFill/>
        </p:spPr>
        <p:txBody>
          <a:bodyPr wrap="square" anchor="t"/>
          <a:lstStyle/>
          <a:p>
            <a:pPr algn="l"/>
            <a:r>
              <a:rPr sz="1700" b="1">
                <a:solidFill>
                  <a:srgbClr val="FFFFFF"/>
                </a:solidFill>
                <a:latin typeface="Inter"/>
              </a:rPr>
              <a:t>Hands-on labs</a:t>
            </a:r>
          </a:p>
        </p:txBody>
      </p:sp>
      <p:sp>
        <p:nvSpPr>
          <p:cNvPr id="19" name="TextBox 18"/>
          <p:cNvSpPr txBox="1"/>
          <p:nvPr/>
        </p:nvSpPr>
        <p:spPr>
          <a:xfrm>
            <a:off x="6035040" y="3931920"/>
            <a:ext cx="3840480" cy="457200"/>
          </a:xfrm>
          <a:prstGeom prst="rect">
            <a:avLst/>
          </a:prstGeom>
          <a:noFill/>
        </p:spPr>
        <p:txBody>
          <a:bodyPr wrap="square" anchor="t"/>
          <a:lstStyle/>
          <a:p>
            <a:pPr algn="l"/>
            <a:r>
              <a:rPr sz="1100" b="0">
                <a:solidFill>
                  <a:srgbClr val="A0A0A0"/>
                </a:solidFill>
                <a:latin typeface="Inter"/>
              </a:rPr>
              <a:t>Real-world experience reinforcing concepts learned</a:t>
            </a:r>
          </a:p>
        </p:txBody>
      </p:sp>
      <p:sp>
        <p:nvSpPr>
          <p:cNvPr id="20" name="Rectangle 19"/>
          <p:cNvSpPr/>
          <p:nvPr/>
        </p:nvSpPr>
        <p:spPr>
          <a:xfrm>
            <a:off x="731520" y="4754880"/>
            <a:ext cx="45720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4754880"/>
            <a:ext cx="54864" cy="10972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4892040"/>
            <a:ext cx="3840480" cy="365760"/>
          </a:xfrm>
          <a:prstGeom prst="rect">
            <a:avLst/>
          </a:prstGeom>
          <a:noFill/>
        </p:spPr>
        <p:txBody>
          <a:bodyPr wrap="square" anchor="t"/>
          <a:lstStyle/>
          <a:p>
            <a:pPr algn="l"/>
            <a:r>
              <a:rPr sz="1700" b="1">
                <a:solidFill>
                  <a:srgbClr val="FFFFFF"/>
                </a:solidFill>
                <a:latin typeface="Inter"/>
              </a:rPr>
              <a:t>60-question exam</a:t>
            </a:r>
          </a:p>
        </p:txBody>
      </p:sp>
      <p:sp>
        <p:nvSpPr>
          <p:cNvPr id="23" name="TextBox 22"/>
          <p:cNvSpPr txBox="1"/>
          <p:nvPr/>
        </p:nvSpPr>
        <p:spPr>
          <a:xfrm>
            <a:off x="1097280" y="5303520"/>
            <a:ext cx="3840480" cy="457200"/>
          </a:xfrm>
          <a:prstGeom prst="rect">
            <a:avLst/>
          </a:prstGeom>
          <a:noFill/>
        </p:spPr>
        <p:txBody>
          <a:bodyPr wrap="square" anchor="t"/>
          <a:lstStyle/>
          <a:p>
            <a:pPr algn="l"/>
            <a:r>
              <a:rPr sz="1100" b="0">
                <a:solidFill>
                  <a:srgbClr val="A0A0A0"/>
                </a:solidFill>
                <a:latin typeface="Inter"/>
              </a:rPr>
              <a:t>Validate your knowledge across all seven domains</a:t>
            </a:r>
          </a:p>
        </p:txBody>
      </p:sp>
      <p:sp>
        <p:nvSpPr>
          <p:cNvPr id="24" name="Rectangle 23"/>
          <p:cNvSpPr/>
          <p:nvPr/>
        </p:nvSpPr>
        <p:spPr>
          <a:xfrm>
            <a:off x="5669280" y="4754880"/>
            <a:ext cx="45720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669280" y="4754880"/>
            <a:ext cx="54864" cy="10972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035040" y="4892040"/>
            <a:ext cx="3840480" cy="365760"/>
          </a:xfrm>
          <a:prstGeom prst="rect">
            <a:avLst/>
          </a:prstGeom>
          <a:noFill/>
        </p:spPr>
        <p:txBody>
          <a:bodyPr wrap="square" anchor="t"/>
          <a:lstStyle/>
          <a:p>
            <a:pPr algn="l"/>
            <a:r>
              <a:rPr sz="1700" b="1">
                <a:solidFill>
                  <a:srgbClr val="FFFFFF"/>
                </a:solidFill>
                <a:latin typeface="Inter"/>
              </a:rPr>
              <a:t>IaC Portfolio</a:t>
            </a:r>
          </a:p>
        </p:txBody>
      </p:sp>
      <p:sp>
        <p:nvSpPr>
          <p:cNvPr id="27" name="TextBox 26"/>
          <p:cNvSpPr txBox="1"/>
          <p:nvPr/>
        </p:nvSpPr>
        <p:spPr>
          <a:xfrm>
            <a:off x="6035040" y="5303520"/>
            <a:ext cx="3840480" cy="457200"/>
          </a:xfrm>
          <a:prstGeom prst="rect">
            <a:avLst/>
          </a:prstGeom>
          <a:noFill/>
        </p:spPr>
        <p:txBody>
          <a:bodyPr wrap="square" anchor="t"/>
          <a:lstStyle/>
          <a:p>
            <a:pPr algn="l"/>
            <a:r>
              <a:rPr sz="1100" b="0">
                <a:solidFill>
                  <a:srgbClr val="A0A0A0"/>
                </a:solidFill>
                <a:latin typeface="Inter"/>
              </a:rPr>
              <a:t>Build a real compliance-as-code project you can showcase</a:t>
            </a:r>
          </a:p>
        </p:txBody>
      </p:sp>
      <p:sp>
        <p:nvSpPr>
          <p:cNvPr id="28" name="Rectangle 27"/>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6537960"/>
            <a:ext cx="5486400" cy="274320"/>
          </a:xfrm>
          <a:prstGeom prst="rect">
            <a:avLst/>
          </a:prstGeom>
          <a:noFill/>
        </p:spPr>
        <p:txBody>
          <a:bodyPr wrap="square" anchor="t"/>
          <a:lstStyle/>
          <a:p>
            <a:pPr algn="l"/>
            <a:r>
              <a:rPr sz="900" b="0">
                <a:solidFill>
                  <a:srgbClr val="A0A0A0"/>
                </a:solidFill>
                <a:latin typeface="Inter"/>
              </a:rPr>
              <a:t>GRC Engineering Club  |  grcengclub.com</a:t>
            </a:r>
          </a:p>
        </p:txBody>
      </p:sp>
      <p:sp>
        <p:nvSpPr>
          <p:cNvPr id="30" name="TextBox 29"/>
          <p:cNvSpPr txBox="1"/>
          <p:nvPr/>
        </p:nvSpPr>
        <p:spPr>
          <a:xfrm>
            <a:off x="9875825" y="6537960"/>
            <a:ext cx="1371600" cy="274320"/>
          </a:xfrm>
          <a:prstGeom prst="rect">
            <a:avLst/>
          </a:prstGeom>
          <a:noFill/>
        </p:spPr>
        <p:txBody>
          <a:bodyPr wrap="square" anchor="t"/>
          <a:lstStyle/>
          <a:p>
            <a:pPr algn="r"/>
            <a:r>
              <a:rPr sz="1000" b="0">
                <a:solidFill>
                  <a:srgbClr val="A0A0A0"/>
                </a:solidFill>
                <a:latin typeface="Inter"/>
              </a:rPr>
              <a:t>4 / 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3657600" cy="274320"/>
          </a:xfrm>
          <a:prstGeom prst="rect">
            <a:avLst/>
          </a:prstGeom>
          <a:noFill/>
        </p:spPr>
        <p:txBody>
          <a:bodyPr wrap="square" anchor="t"/>
          <a:lstStyle/>
          <a:p>
            <a:pPr algn="l"/>
            <a:r>
              <a:rPr sz="1100" b="1">
                <a:solidFill>
                  <a:srgbClr val="E8650A"/>
                </a:solidFill>
                <a:latin typeface="Inter"/>
              </a:rPr>
              <a:t>COURSE STRUCTURE</a:t>
            </a:r>
          </a:p>
        </p:txBody>
      </p:sp>
      <p:sp>
        <p:nvSpPr>
          <p:cNvPr id="3" name="TextBox 2"/>
          <p:cNvSpPr txBox="1"/>
          <p:nvPr/>
        </p:nvSpPr>
        <p:spPr>
          <a:xfrm>
            <a:off x="731520" y="914400"/>
            <a:ext cx="8229600" cy="914400"/>
          </a:xfrm>
          <a:prstGeom prst="rect">
            <a:avLst/>
          </a:prstGeom>
          <a:noFill/>
        </p:spPr>
        <p:txBody>
          <a:bodyPr wrap="square" anchor="t"/>
          <a:lstStyle/>
          <a:p>
            <a:pPr algn="l"/>
            <a:r>
              <a:rPr sz="3600" b="1">
                <a:solidFill>
                  <a:srgbClr val="FFFFFF"/>
                </a:solidFill>
                <a:latin typeface="Inter"/>
              </a:rPr>
              <a:t>Course Roadmap</a:t>
            </a:r>
          </a:p>
        </p:txBody>
      </p:sp>
      <p:sp>
        <p:nvSpPr>
          <p:cNvPr id="4" name="Rectangle 3"/>
          <p:cNvSpPr/>
          <p:nvPr/>
        </p:nvSpPr>
        <p:spPr>
          <a:xfrm>
            <a:off x="731520" y="1828800"/>
            <a:ext cx="9601200" cy="27432"/>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210312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76272"/>
            <a:ext cx="457200" cy="365760"/>
          </a:xfrm>
          <a:prstGeom prst="rect">
            <a:avLst/>
          </a:prstGeom>
          <a:noFill/>
        </p:spPr>
        <p:txBody>
          <a:bodyPr wrap="square" anchor="t"/>
          <a:lstStyle/>
          <a:p>
            <a:pPr algn="ctr"/>
            <a:r>
              <a:rPr sz="1200" b="1">
                <a:solidFill>
                  <a:srgbClr val="FFFFFF"/>
                </a:solidFill>
                <a:latin typeface="Inter"/>
              </a:rPr>
              <a:t>01</a:t>
            </a:r>
          </a:p>
        </p:txBody>
      </p:sp>
      <p:sp>
        <p:nvSpPr>
          <p:cNvPr id="7" name="TextBox 6"/>
          <p:cNvSpPr txBox="1"/>
          <p:nvPr/>
        </p:nvSpPr>
        <p:spPr>
          <a:xfrm>
            <a:off x="1371600" y="2121408"/>
            <a:ext cx="2743200" cy="320040"/>
          </a:xfrm>
          <a:prstGeom prst="rect">
            <a:avLst/>
          </a:prstGeom>
          <a:noFill/>
        </p:spPr>
        <p:txBody>
          <a:bodyPr wrap="square" anchor="t"/>
          <a:lstStyle/>
          <a:p>
            <a:pPr algn="l"/>
            <a:r>
              <a:rPr sz="2000" b="1">
                <a:solidFill>
                  <a:srgbClr val="FFFFFF"/>
                </a:solidFill>
                <a:latin typeface="Inter"/>
              </a:rPr>
              <a:t>Foundations</a:t>
            </a:r>
          </a:p>
        </p:txBody>
      </p:sp>
      <p:sp>
        <p:nvSpPr>
          <p:cNvPr id="8" name="TextBox 7"/>
          <p:cNvSpPr txBox="1"/>
          <p:nvPr/>
        </p:nvSpPr>
        <p:spPr>
          <a:xfrm>
            <a:off x="1371600" y="2423160"/>
            <a:ext cx="7315200" cy="274320"/>
          </a:xfrm>
          <a:prstGeom prst="rect">
            <a:avLst/>
          </a:prstGeom>
          <a:noFill/>
        </p:spPr>
        <p:txBody>
          <a:bodyPr wrap="square" anchor="t"/>
          <a:lstStyle/>
          <a:p>
            <a:pPr algn="l"/>
            <a:r>
              <a:rPr sz="1200" b="0">
                <a:solidFill>
                  <a:srgbClr val="A0A0A0"/>
                </a:solidFill>
                <a:latin typeface="Inter"/>
              </a:rPr>
              <a:t>Core GRC Engineering concepts and the maturity model</a:t>
            </a:r>
          </a:p>
        </p:txBody>
      </p:sp>
      <p:sp>
        <p:nvSpPr>
          <p:cNvPr id="9" name="Rectangle 8"/>
          <p:cNvSpPr/>
          <p:nvPr/>
        </p:nvSpPr>
        <p:spPr>
          <a:xfrm>
            <a:off x="731520" y="274320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816352"/>
            <a:ext cx="457200" cy="365760"/>
          </a:xfrm>
          <a:prstGeom prst="rect">
            <a:avLst/>
          </a:prstGeom>
          <a:noFill/>
        </p:spPr>
        <p:txBody>
          <a:bodyPr wrap="square" anchor="t"/>
          <a:lstStyle/>
          <a:p>
            <a:pPr algn="ctr"/>
            <a:r>
              <a:rPr sz="1200" b="1">
                <a:solidFill>
                  <a:srgbClr val="FFFFFF"/>
                </a:solidFill>
                <a:latin typeface="Inter"/>
              </a:rPr>
              <a:t>02</a:t>
            </a:r>
          </a:p>
        </p:txBody>
      </p:sp>
      <p:sp>
        <p:nvSpPr>
          <p:cNvPr id="11" name="TextBox 10"/>
          <p:cNvSpPr txBox="1"/>
          <p:nvPr/>
        </p:nvSpPr>
        <p:spPr>
          <a:xfrm>
            <a:off x="1371600" y="2761488"/>
            <a:ext cx="2743200" cy="320040"/>
          </a:xfrm>
          <a:prstGeom prst="rect">
            <a:avLst/>
          </a:prstGeom>
          <a:noFill/>
        </p:spPr>
        <p:txBody>
          <a:bodyPr wrap="square" anchor="t"/>
          <a:lstStyle/>
          <a:p>
            <a:pPr algn="l"/>
            <a:r>
              <a:rPr sz="2000" b="1">
                <a:solidFill>
                  <a:srgbClr val="FFFFFF"/>
                </a:solidFill>
                <a:latin typeface="Inter"/>
              </a:rPr>
              <a:t>Infrastructure as Code</a:t>
            </a:r>
          </a:p>
        </p:txBody>
      </p:sp>
      <p:sp>
        <p:nvSpPr>
          <p:cNvPr id="12" name="TextBox 11"/>
          <p:cNvSpPr txBox="1"/>
          <p:nvPr/>
        </p:nvSpPr>
        <p:spPr>
          <a:xfrm>
            <a:off x="1371600" y="3063240"/>
            <a:ext cx="7315200" cy="274320"/>
          </a:xfrm>
          <a:prstGeom prst="rect">
            <a:avLst/>
          </a:prstGeom>
          <a:noFill/>
        </p:spPr>
        <p:txBody>
          <a:bodyPr wrap="square" anchor="t"/>
          <a:lstStyle/>
          <a:p>
            <a:pPr algn="l"/>
            <a:r>
              <a:rPr sz="1200" b="0">
                <a:solidFill>
                  <a:srgbClr val="A0A0A0"/>
                </a:solidFill>
                <a:latin typeface="Inter"/>
              </a:rPr>
              <a:t>Terraform fundamentals and compliance-as-code</a:t>
            </a:r>
          </a:p>
        </p:txBody>
      </p:sp>
      <p:sp>
        <p:nvSpPr>
          <p:cNvPr id="13" name="Rectangle 12"/>
          <p:cNvSpPr/>
          <p:nvPr/>
        </p:nvSpPr>
        <p:spPr>
          <a:xfrm>
            <a:off x="731520" y="338328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456432"/>
            <a:ext cx="457200" cy="365760"/>
          </a:xfrm>
          <a:prstGeom prst="rect">
            <a:avLst/>
          </a:prstGeom>
          <a:noFill/>
        </p:spPr>
        <p:txBody>
          <a:bodyPr wrap="square" anchor="t"/>
          <a:lstStyle/>
          <a:p>
            <a:pPr algn="ctr"/>
            <a:r>
              <a:rPr sz="1200" b="1">
                <a:solidFill>
                  <a:srgbClr val="FFFFFF"/>
                </a:solidFill>
                <a:latin typeface="Inter"/>
              </a:rPr>
              <a:t>03</a:t>
            </a:r>
          </a:p>
        </p:txBody>
      </p:sp>
      <p:sp>
        <p:nvSpPr>
          <p:cNvPr id="15" name="TextBox 14"/>
          <p:cNvSpPr txBox="1"/>
          <p:nvPr/>
        </p:nvSpPr>
        <p:spPr>
          <a:xfrm>
            <a:off x="1371600" y="3401568"/>
            <a:ext cx="2743200" cy="320040"/>
          </a:xfrm>
          <a:prstGeom prst="rect">
            <a:avLst/>
          </a:prstGeom>
          <a:noFill/>
        </p:spPr>
        <p:txBody>
          <a:bodyPr wrap="square" anchor="t"/>
          <a:lstStyle/>
          <a:p>
            <a:pPr algn="l"/>
            <a:r>
              <a:rPr sz="2000" b="1">
                <a:solidFill>
                  <a:srgbClr val="FFFFFF"/>
                </a:solidFill>
                <a:latin typeface="Inter"/>
              </a:rPr>
              <a:t>Policy as Code</a:t>
            </a:r>
          </a:p>
        </p:txBody>
      </p:sp>
      <p:sp>
        <p:nvSpPr>
          <p:cNvPr id="16" name="TextBox 15"/>
          <p:cNvSpPr txBox="1"/>
          <p:nvPr/>
        </p:nvSpPr>
        <p:spPr>
          <a:xfrm>
            <a:off x="1371600" y="3703320"/>
            <a:ext cx="7315200" cy="274320"/>
          </a:xfrm>
          <a:prstGeom prst="rect">
            <a:avLst/>
          </a:prstGeom>
          <a:noFill/>
        </p:spPr>
        <p:txBody>
          <a:bodyPr wrap="square" anchor="t"/>
          <a:lstStyle/>
          <a:p>
            <a:pPr algn="l"/>
            <a:r>
              <a:rPr sz="1200" b="0">
                <a:solidFill>
                  <a:srgbClr val="A0A0A0"/>
                </a:solidFill>
                <a:latin typeface="Inter"/>
              </a:rPr>
              <a:t>OPA, Rego, and automated policy enforcement</a:t>
            </a:r>
          </a:p>
        </p:txBody>
      </p:sp>
      <p:sp>
        <p:nvSpPr>
          <p:cNvPr id="17" name="Rectangle 16"/>
          <p:cNvSpPr/>
          <p:nvPr/>
        </p:nvSpPr>
        <p:spPr>
          <a:xfrm>
            <a:off x="731520" y="402336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096512"/>
            <a:ext cx="457200" cy="365760"/>
          </a:xfrm>
          <a:prstGeom prst="rect">
            <a:avLst/>
          </a:prstGeom>
          <a:noFill/>
        </p:spPr>
        <p:txBody>
          <a:bodyPr wrap="square" anchor="t"/>
          <a:lstStyle/>
          <a:p>
            <a:pPr algn="ctr"/>
            <a:r>
              <a:rPr sz="1200" b="1">
                <a:solidFill>
                  <a:srgbClr val="FFFFFF"/>
                </a:solidFill>
                <a:latin typeface="Inter"/>
              </a:rPr>
              <a:t>04</a:t>
            </a:r>
          </a:p>
        </p:txBody>
      </p:sp>
      <p:sp>
        <p:nvSpPr>
          <p:cNvPr id="19" name="TextBox 18"/>
          <p:cNvSpPr txBox="1"/>
          <p:nvPr/>
        </p:nvSpPr>
        <p:spPr>
          <a:xfrm>
            <a:off x="1371600" y="4041648"/>
            <a:ext cx="2743200" cy="320040"/>
          </a:xfrm>
          <a:prstGeom prst="rect">
            <a:avLst/>
          </a:prstGeom>
          <a:noFill/>
        </p:spPr>
        <p:txBody>
          <a:bodyPr wrap="square" anchor="t"/>
          <a:lstStyle/>
          <a:p>
            <a:pPr algn="l"/>
            <a:r>
              <a:rPr sz="2000" b="1">
                <a:solidFill>
                  <a:srgbClr val="FFFFFF"/>
                </a:solidFill>
                <a:latin typeface="Inter"/>
              </a:rPr>
              <a:t>CI/CD &amp; Evidence</a:t>
            </a:r>
          </a:p>
        </p:txBody>
      </p:sp>
      <p:sp>
        <p:nvSpPr>
          <p:cNvPr id="20" name="TextBox 19"/>
          <p:cNvSpPr txBox="1"/>
          <p:nvPr/>
        </p:nvSpPr>
        <p:spPr>
          <a:xfrm>
            <a:off x="1371600" y="4343400"/>
            <a:ext cx="7315200" cy="274320"/>
          </a:xfrm>
          <a:prstGeom prst="rect">
            <a:avLst/>
          </a:prstGeom>
          <a:noFill/>
        </p:spPr>
        <p:txBody>
          <a:bodyPr wrap="square" anchor="t"/>
          <a:lstStyle/>
          <a:p>
            <a:pPr algn="l"/>
            <a:r>
              <a:rPr sz="1200" b="0">
                <a:solidFill>
                  <a:srgbClr val="A0A0A0"/>
                </a:solidFill>
                <a:latin typeface="Inter"/>
              </a:rPr>
              <a:t>Pipelines, evidence collection, and chain of custody</a:t>
            </a:r>
          </a:p>
        </p:txBody>
      </p:sp>
      <p:sp>
        <p:nvSpPr>
          <p:cNvPr id="21" name="Rectangle 20"/>
          <p:cNvSpPr/>
          <p:nvPr/>
        </p:nvSpPr>
        <p:spPr>
          <a:xfrm>
            <a:off x="731520" y="466344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736592"/>
            <a:ext cx="457200" cy="365760"/>
          </a:xfrm>
          <a:prstGeom prst="rect">
            <a:avLst/>
          </a:prstGeom>
          <a:noFill/>
        </p:spPr>
        <p:txBody>
          <a:bodyPr wrap="square" anchor="t"/>
          <a:lstStyle/>
          <a:p>
            <a:pPr algn="ctr"/>
            <a:r>
              <a:rPr sz="1200" b="1">
                <a:solidFill>
                  <a:srgbClr val="FFFFFF"/>
                </a:solidFill>
                <a:latin typeface="Inter"/>
              </a:rPr>
              <a:t>05</a:t>
            </a:r>
          </a:p>
        </p:txBody>
      </p:sp>
      <p:sp>
        <p:nvSpPr>
          <p:cNvPr id="23" name="TextBox 22"/>
          <p:cNvSpPr txBox="1"/>
          <p:nvPr/>
        </p:nvSpPr>
        <p:spPr>
          <a:xfrm>
            <a:off x="1371600" y="4681728"/>
            <a:ext cx="2743200" cy="320040"/>
          </a:xfrm>
          <a:prstGeom prst="rect">
            <a:avLst/>
          </a:prstGeom>
          <a:noFill/>
        </p:spPr>
        <p:txBody>
          <a:bodyPr wrap="square" anchor="t"/>
          <a:lstStyle/>
          <a:p>
            <a:pPr algn="l"/>
            <a:r>
              <a:rPr sz="2000" b="1">
                <a:solidFill>
                  <a:srgbClr val="FFFFFF"/>
                </a:solidFill>
                <a:latin typeface="Inter"/>
              </a:rPr>
              <a:t>Cloud-Native Security</a:t>
            </a:r>
          </a:p>
        </p:txBody>
      </p:sp>
      <p:sp>
        <p:nvSpPr>
          <p:cNvPr id="24" name="TextBox 23"/>
          <p:cNvSpPr txBox="1"/>
          <p:nvPr/>
        </p:nvSpPr>
        <p:spPr>
          <a:xfrm>
            <a:off x="1371600" y="4983480"/>
            <a:ext cx="7315200" cy="274320"/>
          </a:xfrm>
          <a:prstGeom prst="rect">
            <a:avLst/>
          </a:prstGeom>
          <a:noFill/>
        </p:spPr>
        <p:txBody>
          <a:bodyPr wrap="square" anchor="t"/>
          <a:lstStyle/>
          <a:p>
            <a:pPr algn="l"/>
            <a:r>
              <a:rPr sz="1200" b="0">
                <a:solidFill>
                  <a:srgbClr val="A0A0A0"/>
                </a:solidFill>
                <a:latin typeface="Inter"/>
              </a:rPr>
              <a:t>AWS security services and continuous monitoring</a:t>
            </a:r>
          </a:p>
        </p:txBody>
      </p:sp>
      <p:sp>
        <p:nvSpPr>
          <p:cNvPr id="25" name="Rectangle 24"/>
          <p:cNvSpPr/>
          <p:nvPr/>
        </p:nvSpPr>
        <p:spPr>
          <a:xfrm>
            <a:off x="731520" y="530352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5376672"/>
            <a:ext cx="457200" cy="365760"/>
          </a:xfrm>
          <a:prstGeom prst="rect">
            <a:avLst/>
          </a:prstGeom>
          <a:noFill/>
        </p:spPr>
        <p:txBody>
          <a:bodyPr wrap="square" anchor="t"/>
          <a:lstStyle/>
          <a:p>
            <a:pPr algn="ctr"/>
            <a:r>
              <a:rPr sz="1200" b="1">
                <a:solidFill>
                  <a:srgbClr val="FFFFFF"/>
                </a:solidFill>
                <a:latin typeface="Inter"/>
              </a:rPr>
              <a:t>06</a:t>
            </a:r>
          </a:p>
        </p:txBody>
      </p:sp>
      <p:sp>
        <p:nvSpPr>
          <p:cNvPr id="27" name="TextBox 26"/>
          <p:cNvSpPr txBox="1"/>
          <p:nvPr/>
        </p:nvSpPr>
        <p:spPr>
          <a:xfrm>
            <a:off x="1371600" y="5321808"/>
            <a:ext cx="2743200" cy="320040"/>
          </a:xfrm>
          <a:prstGeom prst="rect">
            <a:avLst/>
          </a:prstGeom>
          <a:noFill/>
        </p:spPr>
        <p:txBody>
          <a:bodyPr wrap="square" anchor="t"/>
          <a:lstStyle/>
          <a:p>
            <a:pPr algn="l"/>
            <a:r>
              <a:rPr sz="2000" b="1">
                <a:solidFill>
                  <a:srgbClr val="FFFFFF"/>
                </a:solidFill>
                <a:latin typeface="Inter"/>
              </a:rPr>
              <a:t>OSCAL &amp; cATO</a:t>
            </a:r>
          </a:p>
        </p:txBody>
      </p:sp>
      <p:sp>
        <p:nvSpPr>
          <p:cNvPr id="28" name="TextBox 27"/>
          <p:cNvSpPr txBox="1"/>
          <p:nvPr/>
        </p:nvSpPr>
        <p:spPr>
          <a:xfrm>
            <a:off x="1371600" y="5623560"/>
            <a:ext cx="7315200" cy="274320"/>
          </a:xfrm>
          <a:prstGeom prst="rect">
            <a:avLst/>
          </a:prstGeom>
          <a:noFill/>
        </p:spPr>
        <p:txBody>
          <a:bodyPr wrap="square" anchor="t"/>
          <a:lstStyle/>
          <a:p>
            <a:pPr algn="l"/>
            <a:r>
              <a:rPr sz="1200" b="0">
                <a:solidFill>
                  <a:srgbClr val="A0A0A0"/>
                </a:solidFill>
                <a:latin typeface="Inter"/>
              </a:rPr>
              <a:t>Machine-readable compliance and continuous authorization</a:t>
            </a:r>
          </a:p>
        </p:txBody>
      </p:sp>
      <p:sp>
        <p:nvSpPr>
          <p:cNvPr id="29" name="Rectangle 28"/>
          <p:cNvSpPr/>
          <p:nvPr/>
        </p:nvSpPr>
        <p:spPr>
          <a:xfrm>
            <a:off x="731520" y="594360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6016752"/>
            <a:ext cx="457200" cy="365760"/>
          </a:xfrm>
          <a:prstGeom prst="rect">
            <a:avLst/>
          </a:prstGeom>
          <a:noFill/>
        </p:spPr>
        <p:txBody>
          <a:bodyPr wrap="square" anchor="t"/>
          <a:lstStyle/>
          <a:p>
            <a:pPr algn="ctr"/>
            <a:r>
              <a:rPr sz="1200" b="1">
                <a:solidFill>
                  <a:srgbClr val="FFFFFF"/>
                </a:solidFill>
                <a:latin typeface="Inter"/>
              </a:rPr>
              <a:t>07</a:t>
            </a:r>
          </a:p>
        </p:txBody>
      </p:sp>
      <p:sp>
        <p:nvSpPr>
          <p:cNvPr id="31" name="TextBox 30"/>
          <p:cNvSpPr txBox="1"/>
          <p:nvPr/>
        </p:nvSpPr>
        <p:spPr>
          <a:xfrm>
            <a:off x="1371600" y="5961888"/>
            <a:ext cx="2743200" cy="320040"/>
          </a:xfrm>
          <a:prstGeom prst="rect">
            <a:avLst/>
          </a:prstGeom>
          <a:noFill/>
        </p:spPr>
        <p:txBody>
          <a:bodyPr wrap="square" anchor="t"/>
          <a:lstStyle/>
          <a:p>
            <a:pPr algn="l"/>
            <a:r>
              <a:rPr sz="2000" b="1">
                <a:solidFill>
                  <a:srgbClr val="FFFFFF"/>
                </a:solidFill>
                <a:latin typeface="Inter"/>
              </a:rPr>
              <a:t>Capstone &amp; Exam</a:t>
            </a:r>
          </a:p>
        </p:txBody>
      </p:sp>
      <p:sp>
        <p:nvSpPr>
          <p:cNvPr id="32" name="TextBox 31"/>
          <p:cNvSpPr txBox="1"/>
          <p:nvPr/>
        </p:nvSpPr>
        <p:spPr>
          <a:xfrm>
            <a:off x="1371600" y="6263640"/>
            <a:ext cx="7315200" cy="274320"/>
          </a:xfrm>
          <a:prstGeom prst="rect">
            <a:avLst/>
          </a:prstGeom>
          <a:noFill/>
        </p:spPr>
        <p:txBody>
          <a:bodyPr wrap="square" anchor="t"/>
          <a:lstStyle/>
          <a:p>
            <a:pPr algn="l"/>
            <a:r>
              <a:rPr sz="1200" b="0">
                <a:solidFill>
                  <a:srgbClr val="A0A0A0"/>
                </a:solidFill>
                <a:latin typeface="Inter"/>
              </a:rPr>
              <a:t>Build your portfolio and earn your certification</a:t>
            </a:r>
          </a:p>
        </p:txBody>
      </p:sp>
      <p:sp>
        <p:nvSpPr>
          <p:cNvPr id="33" name="Rectangle 32"/>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6537960"/>
            <a:ext cx="5486400" cy="274320"/>
          </a:xfrm>
          <a:prstGeom prst="rect">
            <a:avLst/>
          </a:prstGeom>
          <a:noFill/>
        </p:spPr>
        <p:txBody>
          <a:bodyPr wrap="square" anchor="t"/>
          <a:lstStyle/>
          <a:p>
            <a:pPr algn="l"/>
            <a:r>
              <a:rPr sz="900" b="0">
                <a:solidFill>
                  <a:srgbClr val="A0A0A0"/>
                </a:solidFill>
                <a:latin typeface="Inter"/>
              </a:rPr>
              <a:t>GRC Engineering Club  |  grcengclub.com</a:t>
            </a:r>
          </a:p>
        </p:txBody>
      </p:sp>
      <p:sp>
        <p:nvSpPr>
          <p:cNvPr id="35" name="TextBox 34"/>
          <p:cNvSpPr txBox="1"/>
          <p:nvPr/>
        </p:nvSpPr>
        <p:spPr>
          <a:xfrm>
            <a:off x="9875825" y="6537960"/>
            <a:ext cx="1371600" cy="274320"/>
          </a:xfrm>
          <a:prstGeom prst="rect">
            <a:avLst/>
          </a:prstGeom>
          <a:noFill/>
        </p:spPr>
        <p:txBody>
          <a:bodyPr wrap="square" anchor="t"/>
          <a:lstStyle/>
          <a:p>
            <a:pPr algn="r"/>
            <a:r>
              <a:rPr sz="1000" b="0">
                <a:solidFill>
                  <a:srgbClr val="A0A0A0"/>
                </a:solidFill>
                <a:latin typeface="Inter"/>
              </a:rPr>
              <a:t>5 / 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286000"/>
            <a:ext cx="9144000" cy="1097280"/>
          </a:xfrm>
          <a:prstGeom prst="rect">
            <a:avLst/>
          </a:prstGeom>
          <a:noFill/>
        </p:spPr>
        <p:txBody>
          <a:bodyPr wrap="square" anchor="t"/>
          <a:lstStyle/>
          <a:p>
            <a:pPr algn="ctr"/>
            <a:r>
              <a:rPr sz="4800" b="1">
                <a:solidFill>
                  <a:srgbClr val="FFFFFF"/>
                </a:solidFill>
                <a:latin typeface="Inter"/>
              </a:rPr>
              <a:t>GRC Engineering Club</a:t>
            </a:r>
          </a:p>
        </p:txBody>
      </p:sp>
      <p:sp>
        <p:nvSpPr>
          <p:cNvPr id="4" name="TextBox 3"/>
          <p:cNvSpPr txBox="1"/>
          <p:nvPr/>
        </p:nvSpPr>
        <p:spPr>
          <a:xfrm>
            <a:off x="1371600" y="3474720"/>
            <a:ext cx="9144000" cy="548640"/>
          </a:xfrm>
          <a:prstGeom prst="rect">
            <a:avLst/>
          </a:prstGeom>
          <a:noFill/>
        </p:spPr>
        <p:txBody>
          <a:bodyPr wrap="square" anchor="t"/>
          <a:lstStyle/>
          <a:p>
            <a:pPr algn="ctr"/>
            <a:r>
              <a:rPr sz="2400" b="0">
                <a:solidFill>
                  <a:srgbClr val="E8650A"/>
                </a:solidFill>
                <a:latin typeface="Inter"/>
              </a:rPr>
              <a:t>grcengineeringclub.com</a:t>
            </a:r>
          </a:p>
        </p:txBody>
      </p:sp>
      <p:sp>
        <p:nvSpPr>
          <p:cNvPr id="5" name="Rectangle 4"/>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537960"/>
            <a:ext cx="5486400" cy="274320"/>
          </a:xfrm>
          <a:prstGeom prst="rect">
            <a:avLst/>
          </a:prstGeom>
          <a:noFill/>
        </p:spPr>
        <p:txBody>
          <a:bodyPr wrap="square" anchor="t"/>
          <a:lstStyle/>
          <a:p>
            <a:pPr algn="l"/>
            <a:r>
              <a:rPr sz="900" b="0">
                <a:solidFill>
                  <a:srgbClr val="A0A0A0"/>
                </a:solidFill>
                <a:latin typeface="Inter"/>
              </a:rPr>
              <a:t>GRC Engineering Club  |  grcengclub.com</a:t>
            </a:r>
          </a:p>
        </p:txBody>
      </p:sp>
      <p:sp>
        <p:nvSpPr>
          <p:cNvPr id="7" name="TextBox 6"/>
          <p:cNvSpPr txBox="1"/>
          <p:nvPr/>
        </p:nvSpPr>
        <p:spPr>
          <a:xfrm>
            <a:off x="9875825" y="6537960"/>
            <a:ext cx="1371600" cy="274320"/>
          </a:xfrm>
          <a:prstGeom prst="rect">
            <a:avLst/>
          </a:prstGeom>
          <a:noFill/>
        </p:spPr>
        <p:txBody>
          <a:bodyPr wrap="square" anchor="t"/>
          <a:lstStyle/>
          <a:p>
            <a:pPr algn="r"/>
            <a:r>
              <a:rPr sz="1000" b="0">
                <a:solidFill>
                  <a:srgbClr val="A0A0A0"/>
                </a:solidFill>
                <a:latin typeface="Inter"/>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686</Words>
  <Application>Microsoft Macintosh PowerPoint</Application>
  <PresentationFormat>Widescreen</PresentationFormat>
  <Paragraphs>82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AJ Yawn</cp:lastModifiedBy>
  <cp:revision>2</cp:revision>
  <dcterms:created xsi:type="dcterms:W3CDTF">2013-01-27T09:14:16Z</dcterms:created>
  <dcterms:modified xsi:type="dcterms:W3CDTF">2026-03-29T01:11:29Z</dcterms:modified>
  <cp:category/>
</cp:coreProperties>
</file>