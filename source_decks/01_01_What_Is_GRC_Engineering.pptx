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most fundamental question: what is GRC Engineering? At its core, GRC Engineering is the application of software engineering principles and practices to governance, risk, and compliance functions. It's a discipline -- not a tool, not a product -- that transforms how organizations approach compliance by embedding it directly into their technical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most fundamental question: what is GRC Engineering? At its core, GRC Engineering is the application of software engineering principles and practices to governance, risk, and compliance functions. It's a discipline -- not a tool, not a product -- that transforms how organizations approach compliance by embedding it directly into their technical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GRC Engineering exists, you have to understand the problem it solves. Traditional GRC is document-driven. You write policies in Word documents. You collect evidence in spreadsheets. You take screenshots to prove a control exists. You do this every quarter, or every year, and by the time you've finished gathering evidence, the environment has already changed. It's a hamster wheel.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GRC Engineering breaks that cycle by codifying compliance into the infrastructure itself. Instead of a policy document that says 'all databases must be encrypted,' you write a Terraform module that deploys databases with encryption enabled by default -- and an OPA policy that blocks any deployment without it. The compliance control isn't documented -- it's enforced. Automatically. Every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this way. In traditional GRC, compliance is a checkpoint -- something you prove at a point in time. In GRC Engineering, compliance is a property of the system. It's baked into how infrastructure gets deployed, how changes get approved, and how evidence gets collected. You don't prove you're compliant -- your system proves it for you, continuously.</a:t>
            </a:r>
          </a:p>
          <a:p/>
          <a:p>
            <a:r>
              <a:t>Now, I want to be clear about something. GRC Engineering doesn't replace GRC practitioners. It elevates them. You still need people who understand NIST 800-53, who can interpret control requirements, who can communicate risk to leadership. What changes is the toolset. Instead of spending eighty percent of your time on evidence gathering, you spend eighty percent on risk analysis, strategy, and actual governance. The engineering handles the repetitive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GRC Engineering discipline rests on three technical pillars that AJ will cover in detail in the next video. First, Cloud-Native Control Validation -- using services like AWS Config and Security Hub to automatically check whether your infrastructure meets compliance requirements. Second, CI/CD Evidence Integration -- making your development pipeline produce compliance evidence as a byproduct of normal operations. Third, Infrastructure as Code and Policy Guardrails -- codifying your secure baselines and compliance policies so they're enforced automatically. These three pillars are the foundation of everything you'll learn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concept before we move on -- and this is something you'll use throughout the course and in practice. GRC Engineering isn't a binary state. Organizations move through a maturity model. Level one is manual -- that's where most organizations are today, with document-driven compliance and periodic audits. Level two is partially automated -- some cloud-native tools are enabled, some monitoring exists. Level three is engineered -- compliance is embedded in CI/CD, IaC baselines are enforced, dashboards provide real-time visibility. Level four is continuous authorization -- full Policy as Code enforcement, OSCAL documentation, automated evidence, and ongoing authorization replaces periodic re-assessment.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114800" cy="457200"/>
          </a:xfrm>
          <a:prstGeom prst="rect">
            <a:avLst/>
          </a:prstGeom>
          <a:noFill/>
        </p:spPr>
        <p:txBody>
          <a:bodyPr wrap="square"/>
          <a:lstStyle/>
          <a:p>
            <a:pPr algn="l"/>
            <a:r>
              <a:rPr sz="1300" b="1">
                <a:solidFill>
                  <a:srgbClr val="E8650A"/>
                </a:solidFill>
                <a:latin typeface="Inter"/>
              </a:rPr>
              <a:t>GRC ENGINEERING CLUB</a:t>
            </a:r>
          </a:p>
        </p:txBody>
      </p:sp>
      <p:sp>
        <p:nvSpPr>
          <p:cNvPr id="5" name="TextBox 4"/>
          <p:cNvSpPr txBox="1"/>
          <p:nvPr/>
        </p:nvSpPr>
        <p:spPr>
          <a:xfrm>
            <a:off x="731520" y="2011680"/>
            <a:ext cx="4114800" cy="1828800"/>
          </a:xfrm>
          <a:prstGeom prst="rect">
            <a:avLst/>
          </a:prstGeom>
          <a:noFill/>
        </p:spPr>
        <p:txBody>
          <a:bodyPr wrap="square"/>
          <a:lstStyle/>
          <a:p>
            <a:pPr algn="l"/>
            <a:r>
              <a:rPr sz="4400" b="1">
                <a:solidFill>
                  <a:srgbClr val="FFFFFF"/>
                </a:solidFill>
                <a:latin typeface="Inter"/>
              </a:rPr>
              <a:t>What Is GRC Engineering?</a:t>
            </a:r>
          </a:p>
        </p:txBody>
      </p:sp>
      <p:sp>
        <p:nvSpPr>
          <p:cNvPr id="6" name="TextBox 5"/>
          <p:cNvSpPr txBox="1"/>
          <p:nvPr/>
        </p:nvSpPr>
        <p:spPr>
          <a:xfrm>
            <a:off x="731520" y="3840480"/>
            <a:ext cx="4114800" cy="914400"/>
          </a:xfrm>
          <a:prstGeom prst="rect">
            <a:avLst/>
          </a:prstGeom>
          <a:noFill/>
        </p:spPr>
        <p:txBody>
          <a:bodyPr wrap="square"/>
          <a:lstStyle/>
          <a:p>
            <a:pPr algn="l"/>
            <a:r>
              <a:rPr sz="1600" b="0">
                <a:solidFill>
                  <a:srgbClr val="A0A0A0"/>
                </a:solidFill>
                <a:latin typeface="Inter"/>
              </a:rPr>
              <a:t>Chapter 1, Lesson 1</a:t>
            </a:r>
          </a:p>
        </p:txBody>
      </p:sp>
      <p:sp>
        <p:nvSpPr>
          <p:cNvPr id="7" name="Rectangle 6"/>
          <p:cNvSpPr/>
          <p:nvPr/>
        </p:nvSpPr>
        <p:spPr>
          <a:xfrm>
            <a:off x="731520" y="5029200"/>
            <a:ext cx="3200400" cy="1828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212080"/>
            <a:ext cx="3200400" cy="365760"/>
          </a:xfrm>
          <a:prstGeom prst="rect">
            <a:avLst/>
          </a:prstGeom>
          <a:noFill/>
        </p:spPr>
        <p:txBody>
          <a:bodyPr wrap="square"/>
          <a:lstStyle/>
          <a:p>
            <a:pPr algn="l"/>
            <a:r>
              <a:rPr sz="1300" b="0">
                <a:solidFill>
                  <a:srgbClr val="F5F5F5"/>
                </a:solidFill>
                <a:latin typeface="Inter"/>
              </a:rPr>
              <a:t>Abdie Mohamed</a:t>
            </a:r>
          </a:p>
        </p:txBody>
      </p:sp>
      <p:sp>
        <p:nvSpPr>
          <p:cNvPr id="9" name="TextBox 8"/>
          <p:cNvSpPr txBox="1"/>
          <p:nvPr/>
        </p:nvSpPr>
        <p:spPr>
          <a:xfrm>
            <a:off x="731520" y="5577840"/>
            <a:ext cx="3200400" cy="365760"/>
          </a:xfrm>
          <a:prstGeom prst="rect">
            <a:avLst/>
          </a:prstGeom>
          <a:noFill/>
        </p:spPr>
        <p:txBody>
          <a:bodyPr wrap="square"/>
          <a:lstStyle/>
          <a:p>
            <a:pPr algn="l"/>
            <a:r>
              <a:rPr sz="1100" b="0">
                <a:solidFill>
                  <a:srgbClr val="A0A0A0"/>
                </a:solidFill>
                <a:latin typeface="Inter"/>
              </a:rPr>
              <a:t>2026</a:t>
            </a:r>
          </a:p>
        </p:txBody>
      </p:sp>
      <p:sp>
        <p:nvSpPr>
          <p:cNvPr id="10" name="TextBox 9"/>
          <p:cNvSpPr txBox="1"/>
          <p:nvPr/>
        </p:nvSpPr>
        <p:spPr>
          <a:xfrm>
            <a:off x="5669280" y="1828800"/>
            <a:ext cx="5943600" cy="3200400"/>
          </a:xfrm>
          <a:prstGeom prst="rect">
            <a:avLst/>
          </a:prstGeom>
          <a:noFill/>
        </p:spPr>
        <p:txBody>
          <a:bodyPr wrap="square"/>
          <a:lstStyle/>
          <a:p>
            <a:pPr algn="l"/>
            <a:r>
              <a:rPr sz="14000" b="1">
                <a:solidFill>
                  <a:srgbClr val="1A1A1A"/>
                </a:solidFill>
                <a:latin typeface="Inter"/>
              </a:rPr>
              <a:t>ENG</a:t>
            </a:r>
          </a:p>
        </p:txBody>
      </p:sp>
      <p:sp>
        <p:nvSpPr>
          <p:cNvPr id="11" name="TextBox 10"/>
          <p:cNvSpPr txBox="1"/>
          <p:nvPr/>
        </p:nvSpPr>
        <p:spPr>
          <a:xfrm>
            <a:off x="5669280" y="5577840"/>
            <a:ext cx="5943600" cy="365760"/>
          </a:xfrm>
          <a:prstGeom prst="rect">
            <a:avLst/>
          </a:prstGeom>
          <a:noFill/>
        </p:spPr>
        <p:txBody>
          <a:bodyPr wrap="square"/>
          <a:lstStyle/>
          <a:p>
            <a:pPr algn="l"/>
            <a:r>
              <a:rPr sz="1200" b="0">
                <a:solidFill>
                  <a:srgbClr val="E8650A"/>
                </a:solidFill>
                <a:latin typeface="Inter"/>
              </a:rPr>
              <a:t>grcengclub.com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DEFINITION</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GRC Engineering</a:t>
            </a:r>
          </a:p>
        </p:txBody>
      </p:sp>
      <p:sp>
        <p:nvSpPr>
          <p:cNvPr id="4" name="Rectangle 3"/>
          <p:cNvSpPr/>
          <p:nvPr/>
        </p:nvSpPr>
        <p:spPr>
          <a:xfrm>
            <a:off x="731520" y="2011680"/>
            <a:ext cx="9601200" cy="2286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54864" cy="22860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377440"/>
            <a:ext cx="8686800" cy="1645920"/>
          </a:xfrm>
          <a:prstGeom prst="rect">
            <a:avLst/>
          </a:prstGeom>
          <a:noFill/>
        </p:spPr>
        <p:txBody>
          <a:bodyPr wrap="square"/>
          <a:lstStyle/>
          <a:p>
            <a:pPr algn="l"/>
            <a:r>
              <a:rPr sz="2800" b="1">
                <a:solidFill>
                  <a:srgbClr val="FFFFFF"/>
                </a:solidFill>
                <a:latin typeface="Inter"/>
              </a:rPr>
              <a:t>The application of software engineering principles to governance, risk, and compliance functions</a:t>
            </a:r>
          </a:p>
        </p:txBody>
      </p:sp>
      <p:sp>
        <p:nvSpPr>
          <p:cNvPr id="7" name="Rectangle 6"/>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9" name="TextBox 8"/>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THE PROBLEM</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Traditional GRC Cycle</a:t>
            </a:r>
          </a:p>
        </p:txBody>
      </p:sp>
      <p:sp>
        <p:nvSpPr>
          <p:cNvPr id="4" name="Rectangle 3"/>
          <p:cNvSpPr/>
          <p:nvPr/>
        </p:nvSpPr>
        <p:spPr>
          <a:xfrm>
            <a:off x="731520" y="2286000"/>
            <a:ext cx="16459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286000"/>
            <a:ext cx="164592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1463040" cy="457200"/>
          </a:xfrm>
          <a:prstGeom prst="rect">
            <a:avLst/>
          </a:prstGeom>
          <a:noFill/>
        </p:spPr>
        <p:txBody>
          <a:bodyPr wrap="square"/>
          <a:lstStyle/>
          <a:p>
            <a:pPr algn="ctr"/>
            <a:r>
              <a:rPr sz="1500" b="1">
                <a:solidFill>
                  <a:srgbClr val="FFFFFF"/>
                </a:solidFill>
                <a:latin typeface="Inter"/>
              </a:rPr>
              <a:t>Write Policy</a:t>
            </a:r>
          </a:p>
        </p:txBody>
      </p:sp>
      <p:sp>
        <p:nvSpPr>
          <p:cNvPr id="7" name="TextBox 6"/>
          <p:cNvSpPr txBox="1"/>
          <p:nvPr/>
        </p:nvSpPr>
        <p:spPr>
          <a:xfrm>
            <a:off x="2377440" y="2514600"/>
            <a:ext cx="365760" cy="457200"/>
          </a:xfrm>
          <a:prstGeom prst="rect">
            <a:avLst/>
          </a:prstGeom>
          <a:noFill/>
        </p:spPr>
        <p:txBody>
          <a:bodyPr wrap="square"/>
          <a:lstStyle/>
          <a:p>
            <a:pPr algn="ctr"/>
            <a:r>
              <a:rPr sz="2400" b="1">
                <a:solidFill>
                  <a:srgbClr val="E8650A"/>
                </a:solidFill>
                <a:latin typeface="Inter"/>
              </a:rPr>
              <a:t>→</a:t>
            </a:r>
          </a:p>
        </p:txBody>
      </p:sp>
      <p:sp>
        <p:nvSpPr>
          <p:cNvPr id="8" name="Rectangle 7"/>
          <p:cNvSpPr/>
          <p:nvPr/>
        </p:nvSpPr>
        <p:spPr>
          <a:xfrm>
            <a:off x="2743200" y="2286000"/>
            <a:ext cx="16459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0" y="2286000"/>
            <a:ext cx="164592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2560320"/>
            <a:ext cx="1463040" cy="457200"/>
          </a:xfrm>
          <a:prstGeom prst="rect">
            <a:avLst/>
          </a:prstGeom>
          <a:noFill/>
        </p:spPr>
        <p:txBody>
          <a:bodyPr wrap="square"/>
          <a:lstStyle/>
          <a:p>
            <a:pPr algn="ctr"/>
            <a:r>
              <a:rPr sz="1500" b="1">
                <a:solidFill>
                  <a:srgbClr val="FFFFFF"/>
                </a:solidFill>
                <a:latin typeface="Inter"/>
              </a:rPr>
              <a:t>Collect Evidence</a:t>
            </a:r>
          </a:p>
        </p:txBody>
      </p:sp>
      <p:sp>
        <p:nvSpPr>
          <p:cNvPr id="11" name="TextBox 10"/>
          <p:cNvSpPr txBox="1"/>
          <p:nvPr/>
        </p:nvSpPr>
        <p:spPr>
          <a:xfrm>
            <a:off x="4389120" y="2514600"/>
            <a:ext cx="365760" cy="457200"/>
          </a:xfrm>
          <a:prstGeom prst="rect">
            <a:avLst/>
          </a:prstGeom>
          <a:noFill/>
        </p:spPr>
        <p:txBody>
          <a:bodyPr wrap="square"/>
          <a:lstStyle/>
          <a:p>
            <a:pPr algn="ctr"/>
            <a:r>
              <a:rPr sz="2400" b="1">
                <a:solidFill>
                  <a:srgbClr val="E8650A"/>
                </a:solidFill>
                <a:latin typeface="Inter"/>
              </a:rPr>
              <a:t>→</a:t>
            </a:r>
          </a:p>
        </p:txBody>
      </p:sp>
      <p:sp>
        <p:nvSpPr>
          <p:cNvPr id="12" name="Rectangle 11"/>
          <p:cNvSpPr/>
          <p:nvPr/>
        </p:nvSpPr>
        <p:spPr>
          <a:xfrm>
            <a:off x="4754880" y="2286000"/>
            <a:ext cx="16459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54880" y="2286000"/>
            <a:ext cx="164592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2560320"/>
            <a:ext cx="1463040" cy="457200"/>
          </a:xfrm>
          <a:prstGeom prst="rect">
            <a:avLst/>
          </a:prstGeom>
          <a:noFill/>
        </p:spPr>
        <p:txBody>
          <a:bodyPr wrap="square"/>
          <a:lstStyle/>
          <a:p>
            <a:pPr algn="ctr"/>
            <a:r>
              <a:rPr sz="1500" b="1">
                <a:solidFill>
                  <a:srgbClr val="FFFFFF"/>
                </a:solidFill>
                <a:latin typeface="Inter"/>
              </a:rPr>
              <a:t>Audit</a:t>
            </a:r>
          </a:p>
        </p:txBody>
      </p:sp>
      <p:sp>
        <p:nvSpPr>
          <p:cNvPr id="15" name="TextBox 14"/>
          <p:cNvSpPr txBox="1"/>
          <p:nvPr/>
        </p:nvSpPr>
        <p:spPr>
          <a:xfrm>
            <a:off x="6400800" y="2514600"/>
            <a:ext cx="365760" cy="457200"/>
          </a:xfrm>
          <a:prstGeom prst="rect">
            <a:avLst/>
          </a:prstGeom>
          <a:noFill/>
        </p:spPr>
        <p:txBody>
          <a:bodyPr wrap="square"/>
          <a:lstStyle/>
          <a:p>
            <a:pPr algn="ctr"/>
            <a:r>
              <a:rPr sz="2400" b="1">
                <a:solidFill>
                  <a:srgbClr val="E8650A"/>
                </a:solidFill>
                <a:latin typeface="Inter"/>
              </a:rPr>
              <a:t>→</a:t>
            </a:r>
          </a:p>
        </p:txBody>
      </p:sp>
      <p:sp>
        <p:nvSpPr>
          <p:cNvPr id="16" name="Rectangle 15"/>
          <p:cNvSpPr/>
          <p:nvPr/>
        </p:nvSpPr>
        <p:spPr>
          <a:xfrm>
            <a:off x="6766560" y="2286000"/>
            <a:ext cx="16459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2286000"/>
            <a:ext cx="164592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560320"/>
            <a:ext cx="1463040" cy="457200"/>
          </a:xfrm>
          <a:prstGeom prst="rect">
            <a:avLst/>
          </a:prstGeom>
          <a:noFill/>
        </p:spPr>
        <p:txBody>
          <a:bodyPr wrap="square"/>
          <a:lstStyle/>
          <a:p>
            <a:pPr algn="ctr"/>
            <a:r>
              <a:rPr sz="1500" b="1">
                <a:solidFill>
                  <a:srgbClr val="FFFFFF"/>
                </a:solidFill>
                <a:latin typeface="Inter"/>
              </a:rPr>
              <a:t>Remediate</a:t>
            </a:r>
          </a:p>
        </p:txBody>
      </p:sp>
      <p:sp>
        <p:nvSpPr>
          <p:cNvPr id="19" name="TextBox 18"/>
          <p:cNvSpPr txBox="1"/>
          <p:nvPr/>
        </p:nvSpPr>
        <p:spPr>
          <a:xfrm>
            <a:off x="8412480" y="2514600"/>
            <a:ext cx="365760" cy="457200"/>
          </a:xfrm>
          <a:prstGeom prst="rect">
            <a:avLst/>
          </a:prstGeom>
          <a:noFill/>
        </p:spPr>
        <p:txBody>
          <a:bodyPr wrap="square"/>
          <a:lstStyle/>
          <a:p>
            <a:pPr algn="ctr"/>
            <a:r>
              <a:rPr sz="2400" b="1">
                <a:solidFill>
                  <a:srgbClr val="E8650A"/>
                </a:solidFill>
                <a:latin typeface="Inter"/>
              </a:rPr>
              <a:t>→</a:t>
            </a:r>
          </a:p>
        </p:txBody>
      </p:sp>
      <p:sp>
        <p:nvSpPr>
          <p:cNvPr id="20" name="Rectangle 19"/>
          <p:cNvSpPr/>
          <p:nvPr/>
        </p:nvSpPr>
        <p:spPr>
          <a:xfrm>
            <a:off x="8778240" y="2286000"/>
            <a:ext cx="1645920" cy="9144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78240" y="2286000"/>
            <a:ext cx="1645920" cy="54864"/>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0" y="2560320"/>
            <a:ext cx="1463040" cy="457200"/>
          </a:xfrm>
          <a:prstGeom prst="rect">
            <a:avLst/>
          </a:prstGeom>
          <a:noFill/>
        </p:spPr>
        <p:txBody>
          <a:bodyPr wrap="square"/>
          <a:lstStyle/>
          <a:p>
            <a:pPr algn="ctr"/>
            <a:r>
              <a:rPr sz="1500" b="1">
                <a:solidFill>
                  <a:srgbClr val="FFFFFF"/>
                </a:solidFill>
                <a:latin typeface="Inter"/>
              </a:rPr>
              <a:t>Repeat</a:t>
            </a:r>
          </a:p>
        </p:txBody>
      </p:sp>
      <p:sp>
        <p:nvSpPr>
          <p:cNvPr id="23" name="Rectangle 22"/>
          <p:cNvSpPr/>
          <p:nvPr/>
        </p:nvSpPr>
        <p:spPr>
          <a:xfrm>
            <a:off x="731520" y="3840480"/>
            <a:ext cx="96012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840480"/>
            <a:ext cx="54864" cy="109728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4114800"/>
            <a:ext cx="8686800" cy="640080"/>
          </a:xfrm>
          <a:prstGeom prst="rect">
            <a:avLst/>
          </a:prstGeom>
          <a:noFill/>
        </p:spPr>
        <p:txBody>
          <a:bodyPr wrap="square"/>
          <a:lstStyle/>
          <a:p>
            <a:pPr algn="l"/>
            <a:r>
              <a:rPr sz="2000" b="0">
                <a:solidFill>
                  <a:srgbClr val="A0A0A0"/>
                </a:solidFill>
                <a:latin typeface="Inter"/>
              </a:rPr>
              <a:t>Environment changes faster than the cycle</a:t>
            </a:r>
          </a:p>
        </p:txBody>
      </p:sp>
      <p:sp>
        <p:nvSpPr>
          <p:cNvPr id="26" name="Rectangle 25"/>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28" name="TextBox 27"/>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THE SHIFT</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The Fundamental Shift</a:t>
            </a:r>
          </a:p>
        </p:txBody>
      </p:sp>
      <p:sp>
        <p:nvSpPr>
          <p:cNvPr id="4" name="Rectangle 3"/>
          <p:cNvSpPr/>
          <p:nvPr/>
        </p:nvSpPr>
        <p:spPr>
          <a:xfrm>
            <a:off x="731520" y="210312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03120"/>
            <a:ext cx="54864" cy="77724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86000"/>
            <a:ext cx="3474720" cy="457200"/>
          </a:xfrm>
          <a:prstGeom prst="rect">
            <a:avLst/>
          </a:prstGeom>
          <a:noFill/>
        </p:spPr>
        <p:txBody>
          <a:bodyPr wrap="square"/>
          <a:lstStyle/>
          <a:p>
            <a:pPr algn="l"/>
            <a:r>
              <a:rPr sz="1800" b="1">
                <a:solidFill>
                  <a:srgbClr val="FFFFFF"/>
                </a:solidFill>
                <a:latin typeface="Inter"/>
              </a:rPr>
              <a:t>Documents</a:t>
            </a:r>
          </a:p>
        </p:txBody>
      </p:sp>
      <p:sp>
        <p:nvSpPr>
          <p:cNvPr id="7" name="TextBox 6"/>
          <p:cNvSpPr txBox="1"/>
          <p:nvPr/>
        </p:nvSpPr>
        <p:spPr>
          <a:xfrm>
            <a:off x="5029200" y="2240280"/>
            <a:ext cx="914400" cy="457200"/>
          </a:xfrm>
          <a:prstGeom prst="rect">
            <a:avLst/>
          </a:prstGeom>
          <a:noFill/>
        </p:spPr>
        <p:txBody>
          <a:bodyPr wrap="square"/>
          <a:lstStyle/>
          <a:p>
            <a:pPr algn="ctr"/>
            <a:r>
              <a:rPr sz="2800" b="1">
                <a:solidFill>
                  <a:srgbClr val="E8650A"/>
                </a:solidFill>
                <a:latin typeface="Inter"/>
              </a:rPr>
              <a:t>→</a:t>
            </a:r>
          </a:p>
        </p:txBody>
      </p:sp>
      <p:sp>
        <p:nvSpPr>
          <p:cNvPr id="8" name="Rectangle 7"/>
          <p:cNvSpPr/>
          <p:nvPr/>
        </p:nvSpPr>
        <p:spPr>
          <a:xfrm>
            <a:off x="6126480" y="210312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210312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3474720" cy="457200"/>
          </a:xfrm>
          <a:prstGeom prst="rect">
            <a:avLst/>
          </a:prstGeom>
          <a:noFill/>
        </p:spPr>
        <p:txBody>
          <a:bodyPr wrap="square"/>
          <a:lstStyle/>
          <a:p>
            <a:pPr algn="l"/>
            <a:r>
              <a:rPr sz="1800" b="1">
                <a:solidFill>
                  <a:srgbClr val="FFFFFF"/>
                </a:solidFill>
                <a:latin typeface="Inter"/>
              </a:rPr>
              <a:t>Code</a:t>
            </a:r>
          </a:p>
        </p:txBody>
      </p:sp>
      <p:sp>
        <p:nvSpPr>
          <p:cNvPr id="11" name="Rectangle 10"/>
          <p:cNvSpPr/>
          <p:nvPr/>
        </p:nvSpPr>
        <p:spPr>
          <a:xfrm>
            <a:off x="731520" y="310896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108960"/>
            <a:ext cx="54864" cy="77724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291840"/>
            <a:ext cx="3474720" cy="457200"/>
          </a:xfrm>
          <a:prstGeom prst="rect">
            <a:avLst/>
          </a:prstGeom>
          <a:noFill/>
        </p:spPr>
        <p:txBody>
          <a:bodyPr wrap="square"/>
          <a:lstStyle/>
          <a:p>
            <a:pPr algn="l"/>
            <a:r>
              <a:rPr sz="1800" b="1">
                <a:solidFill>
                  <a:srgbClr val="FFFFFF"/>
                </a:solidFill>
                <a:latin typeface="Inter"/>
              </a:rPr>
              <a:t>Periodic Audits</a:t>
            </a:r>
          </a:p>
        </p:txBody>
      </p:sp>
      <p:sp>
        <p:nvSpPr>
          <p:cNvPr id="14" name="TextBox 13"/>
          <p:cNvSpPr txBox="1"/>
          <p:nvPr/>
        </p:nvSpPr>
        <p:spPr>
          <a:xfrm>
            <a:off x="5029200" y="3246120"/>
            <a:ext cx="914400" cy="457200"/>
          </a:xfrm>
          <a:prstGeom prst="rect">
            <a:avLst/>
          </a:prstGeom>
          <a:noFill/>
        </p:spPr>
        <p:txBody>
          <a:bodyPr wrap="square"/>
          <a:lstStyle/>
          <a:p>
            <a:pPr algn="ctr"/>
            <a:r>
              <a:rPr sz="2800" b="1">
                <a:solidFill>
                  <a:srgbClr val="E8650A"/>
                </a:solidFill>
                <a:latin typeface="Inter"/>
              </a:rPr>
              <a:t>→</a:t>
            </a:r>
          </a:p>
        </p:txBody>
      </p:sp>
      <p:sp>
        <p:nvSpPr>
          <p:cNvPr id="15" name="Rectangle 14"/>
          <p:cNvSpPr/>
          <p:nvPr/>
        </p:nvSpPr>
        <p:spPr>
          <a:xfrm>
            <a:off x="6126480" y="310896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310896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3291840"/>
            <a:ext cx="3474720" cy="457200"/>
          </a:xfrm>
          <a:prstGeom prst="rect">
            <a:avLst/>
          </a:prstGeom>
          <a:noFill/>
        </p:spPr>
        <p:txBody>
          <a:bodyPr wrap="square"/>
          <a:lstStyle/>
          <a:p>
            <a:pPr algn="l"/>
            <a:r>
              <a:rPr sz="1800" b="1">
                <a:solidFill>
                  <a:srgbClr val="FFFFFF"/>
                </a:solidFill>
                <a:latin typeface="Inter"/>
              </a:rPr>
              <a:t>Continuous Monitoring</a:t>
            </a:r>
          </a:p>
        </p:txBody>
      </p:sp>
      <p:sp>
        <p:nvSpPr>
          <p:cNvPr id="18" name="Rectangle 17"/>
          <p:cNvSpPr/>
          <p:nvPr/>
        </p:nvSpPr>
        <p:spPr>
          <a:xfrm>
            <a:off x="731520" y="411480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114800"/>
            <a:ext cx="54864" cy="77724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4297680"/>
            <a:ext cx="3474720" cy="457200"/>
          </a:xfrm>
          <a:prstGeom prst="rect">
            <a:avLst/>
          </a:prstGeom>
          <a:noFill/>
        </p:spPr>
        <p:txBody>
          <a:bodyPr wrap="square"/>
          <a:lstStyle/>
          <a:p>
            <a:pPr algn="l"/>
            <a:r>
              <a:rPr sz="1800" b="1">
                <a:solidFill>
                  <a:srgbClr val="FFFFFF"/>
                </a:solidFill>
                <a:latin typeface="Inter"/>
              </a:rPr>
              <a:t>Manual Evidence</a:t>
            </a:r>
          </a:p>
        </p:txBody>
      </p:sp>
      <p:sp>
        <p:nvSpPr>
          <p:cNvPr id="21" name="TextBox 20"/>
          <p:cNvSpPr txBox="1"/>
          <p:nvPr/>
        </p:nvSpPr>
        <p:spPr>
          <a:xfrm>
            <a:off x="5029200" y="4251960"/>
            <a:ext cx="914400" cy="457200"/>
          </a:xfrm>
          <a:prstGeom prst="rect">
            <a:avLst/>
          </a:prstGeom>
          <a:noFill/>
        </p:spPr>
        <p:txBody>
          <a:bodyPr wrap="square"/>
          <a:lstStyle/>
          <a:p>
            <a:pPr algn="ctr"/>
            <a:r>
              <a:rPr sz="2800" b="1">
                <a:solidFill>
                  <a:srgbClr val="E8650A"/>
                </a:solidFill>
                <a:latin typeface="Inter"/>
              </a:rPr>
              <a:t>→</a:t>
            </a:r>
          </a:p>
        </p:txBody>
      </p:sp>
      <p:sp>
        <p:nvSpPr>
          <p:cNvPr id="22" name="Rectangle 21"/>
          <p:cNvSpPr/>
          <p:nvPr/>
        </p:nvSpPr>
        <p:spPr>
          <a:xfrm>
            <a:off x="6126480" y="411480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411480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297680"/>
            <a:ext cx="3474720" cy="457200"/>
          </a:xfrm>
          <a:prstGeom prst="rect">
            <a:avLst/>
          </a:prstGeom>
          <a:noFill/>
        </p:spPr>
        <p:txBody>
          <a:bodyPr wrap="square"/>
          <a:lstStyle/>
          <a:p>
            <a:pPr algn="l"/>
            <a:r>
              <a:rPr sz="1800" b="1">
                <a:solidFill>
                  <a:srgbClr val="FFFFFF"/>
                </a:solidFill>
                <a:latin typeface="Inter"/>
              </a:rPr>
              <a:t>Automated Collection</a:t>
            </a:r>
          </a:p>
        </p:txBody>
      </p:sp>
      <p:sp>
        <p:nvSpPr>
          <p:cNvPr id="25" name="Rectangle 24"/>
          <p:cNvSpPr/>
          <p:nvPr/>
        </p:nvSpPr>
        <p:spPr>
          <a:xfrm>
            <a:off x="731520" y="512064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5120640"/>
            <a:ext cx="54864" cy="77724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303520"/>
            <a:ext cx="3474720" cy="457200"/>
          </a:xfrm>
          <a:prstGeom prst="rect">
            <a:avLst/>
          </a:prstGeom>
          <a:noFill/>
        </p:spPr>
        <p:txBody>
          <a:bodyPr wrap="square"/>
          <a:lstStyle/>
          <a:p>
            <a:pPr algn="l"/>
            <a:r>
              <a:rPr sz="1800" b="1">
                <a:solidFill>
                  <a:srgbClr val="FFFFFF"/>
                </a:solidFill>
                <a:latin typeface="Inter"/>
              </a:rPr>
              <a:t>Compliance Theater</a:t>
            </a:r>
          </a:p>
        </p:txBody>
      </p:sp>
      <p:sp>
        <p:nvSpPr>
          <p:cNvPr id="28" name="TextBox 27"/>
          <p:cNvSpPr txBox="1"/>
          <p:nvPr/>
        </p:nvSpPr>
        <p:spPr>
          <a:xfrm>
            <a:off x="5029200" y="5257800"/>
            <a:ext cx="914400" cy="457200"/>
          </a:xfrm>
          <a:prstGeom prst="rect">
            <a:avLst/>
          </a:prstGeom>
          <a:noFill/>
        </p:spPr>
        <p:txBody>
          <a:bodyPr wrap="square"/>
          <a:lstStyle/>
          <a:p>
            <a:pPr algn="ctr"/>
            <a:r>
              <a:rPr sz="2800" b="1">
                <a:solidFill>
                  <a:srgbClr val="E8650A"/>
                </a:solidFill>
                <a:latin typeface="Inter"/>
              </a:rPr>
              <a:t>→</a:t>
            </a:r>
          </a:p>
        </p:txBody>
      </p:sp>
      <p:sp>
        <p:nvSpPr>
          <p:cNvPr id="29" name="Rectangle 28"/>
          <p:cNvSpPr/>
          <p:nvPr/>
        </p:nvSpPr>
        <p:spPr>
          <a:xfrm>
            <a:off x="6126480" y="5120640"/>
            <a:ext cx="4114800" cy="7772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5120640"/>
            <a:ext cx="54864" cy="77724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5303520"/>
            <a:ext cx="3474720" cy="457200"/>
          </a:xfrm>
          <a:prstGeom prst="rect">
            <a:avLst/>
          </a:prstGeom>
          <a:noFill/>
        </p:spPr>
        <p:txBody>
          <a:bodyPr wrap="square"/>
          <a:lstStyle/>
          <a:p>
            <a:pPr algn="l"/>
            <a:r>
              <a:rPr sz="1800" b="1">
                <a:solidFill>
                  <a:srgbClr val="FFFFFF"/>
                </a:solidFill>
                <a:latin typeface="Inter"/>
              </a:rPr>
              <a:t>Provable Compliance</a:t>
            </a:r>
          </a:p>
        </p:txBody>
      </p:sp>
      <p:sp>
        <p:nvSpPr>
          <p:cNvPr id="32" name="Rectangle 31"/>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34" name="TextBox 33"/>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KEY INSIGHT</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Compliance as a System Property</a:t>
            </a:r>
          </a:p>
        </p:txBody>
      </p:sp>
      <p:sp>
        <p:nvSpPr>
          <p:cNvPr id="4" name="Rectangle 3"/>
          <p:cNvSpPr/>
          <p:nvPr/>
        </p:nvSpPr>
        <p:spPr>
          <a:xfrm>
            <a:off x="731520" y="2011680"/>
            <a:ext cx="9601200" cy="1371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54864" cy="13716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286000"/>
            <a:ext cx="8686800" cy="914400"/>
          </a:xfrm>
          <a:prstGeom prst="rect">
            <a:avLst/>
          </a:prstGeom>
          <a:noFill/>
        </p:spPr>
        <p:txBody>
          <a:bodyPr wrap="square"/>
          <a:lstStyle/>
          <a:p>
            <a:pPr algn="l"/>
            <a:r>
              <a:rPr sz="2400" b="1">
                <a:solidFill>
                  <a:srgbClr val="FFFFFF"/>
                </a:solidFill>
                <a:latin typeface="Inter"/>
              </a:rPr>
              <a:t>Compliance as a checkpoint → Compliance as a system property</a:t>
            </a:r>
          </a:p>
        </p:txBody>
      </p:sp>
      <p:sp>
        <p:nvSpPr>
          <p:cNvPr id="7" name="TextBox 6"/>
          <p:cNvSpPr txBox="1"/>
          <p:nvPr/>
        </p:nvSpPr>
        <p:spPr>
          <a:xfrm>
            <a:off x="731520" y="3840480"/>
            <a:ext cx="9144000" cy="365760"/>
          </a:xfrm>
          <a:prstGeom prst="rect">
            <a:avLst/>
          </a:prstGeom>
          <a:noFill/>
        </p:spPr>
        <p:txBody>
          <a:bodyPr wrap="square"/>
          <a:lstStyle/>
          <a:p>
            <a:pPr algn="l"/>
            <a:r>
              <a:rPr sz="1700" b="1">
                <a:solidFill>
                  <a:srgbClr val="FFFFFF"/>
                </a:solidFill>
                <a:latin typeface="Inter"/>
              </a:rPr>
              <a:t>Time Allocation Shift</a:t>
            </a:r>
          </a:p>
        </p:txBody>
      </p:sp>
      <p:sp>
        <p:nvSpPr>
          <p:cNvPr id="8" name="Rectangle 7"/>
          <p:cNvSpPr/>
          <p:nvPr/>
        </p:nvSpPr>
        <p:spPr>
          <a:xfrm>
            <a:off x="731520" y="438912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4389120"/>
            <a:ext cx="54864" cy="1097280"/>
          </a:xfrm>
          <a:prstGeom prst="rect">
            <a:avLst/>
          </a:prstGeom>
          <a:solidFill>
            <a:srgbClr val="8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480560"/>
            <a:ext cx="3840480" cy="365760"/>
          </a:xfrm>
          <a:prstGeom prst="rect">
            <a:avLst/>
          </a:prstGeom>
          <a:noFill/>
        </p:spPr>
        <p:txBody>
          <a:bodyPr wrap="square"/>
          <a:lstStyle/>
          <a:p>
            <a:pPr algn="l"/>
            <a:r>
              <a:rPr sz="1400" b="1">
                <a:solidFill>
                  <a:srgbClr val="E8650A"/>
                </a:solidFill>
                <a:latin typeface="Inter"/>
              </a:rPr>
              <a:t>Traditional</a:t>
            </a:r>
          </a:p>
        </p:txBody>
      </p:sp>
      <p:sp>
        <p:nvSpPr>
          <p:cNvPr id="11" name="TextBox 10"/>
          <p:cNvSpPr txBox="1"/>
          <p:nvPr/>
        </p:nvSpPr>
        <p:spPr>
          <a:xfrm>
            <a:off x="1188720" y="4846320"/>
            <a:ext cx="3840480" cy="457200"/>
          </a:xfrm>
          <a:prstGeom prst="rect">
            <a:avLst/>
          </a:prstGeom>
          <a:noFill/>
        </p:spPr>
        <p:txBody>
          <a:bodyPr wrap="square"/>
          <a:lstStyle/>
          <a:p>
            <a:pPr algn="l"/>
            <a:r>
              <a:rPr sz="1400" b="0">
                <a:solidFill>
                  <a:srgbClr val="A0A0A0"/>
                </a:solidFill>
                <a:latin typeface="Inter"/>
              </a:rPr>
              <a:t>80% Evidence Gathering, 20% Analysis</a:t>
            </a:r>
          </a:p>
        </p:txBody>
      </p:sp>
      <p:sp>
        <p:nvSpPr>
          <p:cNvPr id="12" name="Rectangle 11"/>
          <p:cNvSpPr/>
          <p:nvPr/>
        </p:nvSpPr>
        <p:spPr>
          <a:xfrm>
            <a:off x="5669280" y="4389120"/>
            <a:ext cx="4572000" cy="1097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0" y="4389120"/>
            <a:ext cx="54864" cy="109728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4480560"/>
            <a:ext cx="3840480" cy="365760"/>
          </a:xfrm>
          <a:prstGeom prst="rect">
            <a:avLst/>
          </a:prstGeom>
          <a:noFill/>
        </p:spPr>
        <p:txBody>
          <a:bodyPr wrap="square"/>
          <a:lstStyle/>
          <a:p>
            <a:pPr algn="l"/>
            <a:r>
              <a:rPr sz="1400" b="1">
                <a:solidFill>
                  <a:srgbClr val="E8650A"/>
                </a:solidFill>
                <a:latin typeface="Inter"/>
              </a:rPr>
              <a:t>GRC Engineering</a:t>
            </a:r>
          </a:p>
        </p:txBody>
      </p:sp>
      <p:sp>
        <p:nvSpPr>
          <p:cNvPr id="15" name="TextBox 14"/>
          <p:cNvSpPr txBox="1"/>
          <p:nvPr/>
        </p:nvSpPr>
        <p:spPr>
          <a:xfrm>
            <a:off x="6126480" y="4846320"/>
            <a:ext cx="3840480" cy="457200"/>
          </a:xfrm>
          <a:prstGeom prst="rect">
            <a:avLst/>
          </a:prstGeom>
          <a:noFill/>
        </p:spPr>
        <p:txBody>
          <a:bodyPr wrap="square"/>
          <a:lstStyle/>
          <a:p>
            <a:pPr algn="l"/>
            <a:r>
              <a:rPr sz="1400" b="0">
                <a:solidFill>
                  <a:srgbClr val="A0A0A0"/>
                </a:solidFill>
                <a:latin typeface="Inter"/>
              </a:rPr>
              <a:t>20% Evidence Gathering, 80% Analysis &amp; Strategy</a:t>
            </a:r>
          </a:p>
        </p:txBody>
      </p:sp>
      <p:sp>
        <p:nvSpPr>
          <p:cNvPr id="16" name="Rectangle 15"/>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18" name="TextBox 17"/>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FRAMEWORK</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Three Pillars of GRC Engineering</a:t>
            </a:r>
          </a:p>
        </p:txBody>
      </p:sp>
      <p:sp>
        <p:nvSpPr>
          <p:cNvPr id="4" name="Rectangle 3"/>
          <p:cNvSpPr/>
          <p:nvPr/>
        </p:nvSpPr>
        <p:spPr>
          <a:xfrm>
            <a:off x="731520" y="2103120"/>
            <a:ext cx="9601200" cy="12801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03120"/>
            <a:ext cx="54864" cy="12801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37744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50592"/>
            <a:ext cx="457200" cy="365760"/>
          </a:xfrm>
          <a:prstGeom prst="rect">
            <a:avLst/>
          </a:prstGeom>
          <a:noFill/>
        </p:spPr>
        <p:txBody>
          <a:bodyPr wrap="square"/>
          <a:lstStyle/>
          <a:p>
            <a:pPr algn="ctr"/>
            <a:r>
              <a:rPr sz="1200" b="1">
                <a:solidFill>
                  <a:srgbClr val="FFFFFF"/>
                </a:solidFill>
                <a:latin typeface="Inter"/>
              </a:rPr>
              <a:t>01</a:t>
            </a:r>
          </a:p>
        </p:txBody>
      </p:sp>
      <p:sp>
        <p:nvSpPr>
          <p:cNvPr id="8" name="TextBox 7"/>
          <p:cNvSpPr txBox="1"/>
          <p:nvPr/>
        </p:nvSpPr>
        <p:spPr>
          <a:xfrm>
            <a:off x="1828800" y="2286000"/>
            <a:ext cx="7772400" cy="365760"/>
          </a:xfrm>
          <a:prstGeom prst="rect">
            <a:avLst/>
          </a:prstGeom>
          <a:noFill/>
        </p:spPr>
        <p:txBody>
          <a:bodyPr wrap="square"/>
          <a:lstStyle/>
          <a:p>
            <a:pPr algn="l"/>
            <a:r>
              <a:rPr sz="1700" b="1">
                <a:solidFill>
                  <a:srgbClr val="FFFFFF"/>
                </a:solidFill>
                <a:latin typeface="Inter"/>
              </a:rPr>
              <a:t>Cloud-Native Control Validation</a:t>
            </a:r>
          </a:p>
        </p:txBody>
      </p:sp>
      <p:sp>
        <p:nvSpPr>
          <p:cNvPr id="9" name="TextBox 8"/>
          <p:cNvSpPr txBox="1"/>
          <p:nvPr/>
        </p:nvSpPr>
        <p:spPr>
          <a:xfrm>
            <a:off x="1828800" y="2743200"/>
            <a:ext cx="7772400" cy="457200"/>
          </a:xfrm>
          <a:prstGeom prst="rect">
            <a:avLst/>
          </a:prstGeom>
          <a:noFill/>
        </p:spPr>
        <p:txBody>
          <a:bodyPr wrap="square"/>
          <a:lstStyle/>
          <a:p>
            <a:pPr algn="l"/>
            <a:r>
              <a:rPr sz="1300" b="0">
                <a:solidFill>
                  <a:srgbClr val="A0A0A0"/>
                </a:solidFill>
                <a:latin typeface="Inter"/>
              </a:rPr>
              <a:t>Using services like AWS Config and Security Hub to automatically check whether your infrastructure meets compliance requirements</a:t>
            </a:r>
          </a:p>
        </p:txBody>
      </p:sp>
      <p:sp>
        <p:nvSpPr>
          <p:cNvPr id="10" name="Rectangle 9"/>
          <p:cNvSpPr/>
          <p:nvPr/>
        </p:nvSpPr>
        <p:spPr>
          <a:xfrm>
            <a:off x="731520" y="3566160"/>
            <a:ext cx="9601200" cy="12801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566160"/>
            <a:ext cx="54864" cy="12801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384048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913632"/>
            <a:ext cx="457200" cy="365760"/>
          </a:xfrm>
          <a:prstGeom prst="rect">
            <a:avLst/>
          </a:prstGeom>
          <a:noFill/>
        </p:spPr>
        <p:txBody>
          <a:bodyPr wrap="square"/>
          <a:lstStyle/>
          <a:p>
            <a:pPr algn="ctr"/>
            <a:r>
              <a:rPr sz="1200" b="1">
                <a:solidFill>
                  <a:srgbClr val="FFFFFF"/>
                </a:solidFill>
                <a:latin typeface="Inter"/>
              </a:rPr>
              <a:t>02</a:t>
            </a:r>
          </a:p>
        </p:txBody>
      </p:sp>
      <p:sp>
        <p:nvSpPr>
          <p:cNvPr id="14" name="TextBox 13"/>
          <p:cNvSpPr txBox="1"/>
          <p:nvPr/>
        </p:nvSpPr>
        <p:spPr>
          <a:xfrm>
            <a:off x="1828800" y="3749040"/>
            <a:ext cx="7772400" cy="365760"/>
          </a:xfrm>
          <a:prstGeom prst="rect">
            <a:avLst/>
          </a:prstGeom>
          <a:noFill/>
        </p:spPr>
        <p:txBody>
          <a:bodyPr wrap="square"/>
          <a:lstStyle/>
          <a:p>
            <a:pPr algn="l"/>
            <a:r>
              <a:rPr sz="1700" b="1">
                <a:solidFill>
                  <a:srgbClr val="FFFFFF"/>
                </a:solidFill>
                <a:latin typeface="Inter"/>
              </a:rPr>
              <a:t>CI/CD Evidence Integration</a:t>
            </a:r>
          </a:p>
        </p:txBody>
      </p:sp>
      <p:sp>
        <p:nvSpPr>
          <p:cNvPr id="15" name="TextBox 14"/>
          <p:cNvSpPr txBox="1"/>
          <p:nvPr/>
        </p:nvSpPr>
        <p:spPr>
          <a:xfrm>
            <a:off x="1828800" y="4206240"/>
            <a:ext cx="7772400" cy="457200"/>
          </a:xfrm>
          <a:prstGeom prst="rect">
            <a:avLst/>
          </a:prstGeom>
          <a:noFill/>
        </p:spPr>
        <p:txBody>
          <a:bodyPr wrap="square"/>
          <a:lstStyle/>
          <a:p>
            <a:pPr algn="l"/>
            <a:r>
              <a:rPr sz="1300" b="0">
                <a:solidFill>
                  <a:srgbClr val="A0A0A0"/>
                </a:solidFill>
                <a:latin typeface="Inter"/>
              </a:rPr>
              <a:t>Making your development pipeline produce compliance evidence as a byproduct of normal operations</a:t>
            </a:r>
          </a:p>
        </p:txBody>
      </p:sp>
      <p:sp>
        <p:nvSpPr>
          <p:cNvPr id="16" name="Rectangle 15"/>
          <p:cNvSpPr/>
          <p:nvPr/>
        </p:nvSpPr>
        <p:spPr>
          <a:xfrm>
            <a:off x="731520" y="5029200"/>
            <a:ext cx="9601200" cy="12801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029200"/>
            <a:ext cx="54864" cy="12801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5303520"/>
            <a:ext cx="457200" cy="4572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76672"/>
            <a:ext cx="457200" cy="365760"/>
          </a:xfrm>
          <a:prstGeom prst="rect">
            <a:avLst/>
          </a:prstGeom>
          <a:noFill/>
        </p:spPr>
        <p:txBody>
          <a:bodyPr wrap="square"/>
          <a:lstStyle/>
          <a:p>
            <a:pPr algn="ctr"/>
            <a:r>
              <a:rPr sz="1200" b="1">
                <a:solidFill>
                  <a:srgbClr val="FFFFFF"/>
                </a:solidFill>
                <a:latin typeface="Inter"/>
              </a:rPr>
              <a:t>03</a:t>
            </a:r>
          </a:p>
        </p:txBody>
      </p:sp>
      <p:sp>
        <p:nvSpPr>
          <p:cNvPr id="20" name="TextBox 19"/>
          <p:cNvSpPr txBox="1"/>
          <p:nvPr/>
        </p:nvSpPr>
        <p:spPr>
          <a:xfrm>
            <a:off x="1828800" y="5212080"/>
            <a:ext cx="7772400" cy="365760"/>
          </a:xfrm>
          <a:prstGeom prst="rect">
            <a:avLst/>
          </a:prstGeom>
          <a:noFill/>
        </p:spPr>
        <p:txBody>
          <a:bodyPr wrap="square"/>
          <a:lstStyle/>
          <a:p>
            <a:pPr algn="l"/>
            <a:r>
              <a:rPr sz="1700" b="1">
                <a:solidFill>
                  <a:srgbClr val="FFFFFF"/>
                </a:solidFill>
                <a:latin typeface="Inter"/>
              </a:rPr>
              <a:t>IaC &amp; Policy Guardrails</a:t>
            </a:r>
          </a:p>
        </p:txBody>
      </p:sp>
      <p:sp>
        <p:nvSpPr>
          <p:cNvPr id="21" name="TextBox 20"/>
          <p:cNvSpPr txBox="1"/>
          <p:nvPr/>
        </p:nvSpPr>
        <p:spPr>
          <a:xfrm>
            <a:off x="1828800" y="5669280"/>
            <a:ext cx="7772400" cy="457200"/>
          </a:xfrm>
          <a:prstGeom prst="rect">
            <a:avLst/>
          </a:prstGeom>
          <a:noFill/>
        </p:spPr>
        <p:txBody>
          <a:bodyPr wrap="square"/>
          <a:lstStyle/>
          <a:p>
            <a:pPr algn="l"/>
            <a:r>
              <a:rPr sz="1300" b="0">
                <a:solidFill>
                  <a:srgbClr val="A0A0A0"/>
                </a:solidFill>
                <a:latin typeface="Inter"/>
              </a:rPr>
              <a:t>Codifying your secure baselines and compliance policies so they're enforced automatically</a:t>
            </a:r>
          </a:p>
        </p:txBody>
      </p:sp>
      <p:sp>
        <p:nvSpPr>
          <p:cNvPr id="22" name="Rectangle 21"/>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24" name="TextBox 23"/>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MATURITY</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GRC Engineering Maturity Model</a:t>
            </a:r>
          </a:p>
        </p:txBody>
      </p:sp>
      <p:sp>
        <p:nvSpPr>
          <p:cNvPr id="4" name="Rectangle 3"/>
          <p:cNvSpPr/>
          <p:nvPr/>
        </p:nvSpPr>
        <p:spPr>
          <a:xfrm>
            <a:off x="731520" y="2011680"/>
            <a:ext cx="9601200" cy="9601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54864" cy="9601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2194560"/>
            <a:ext cx="54864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40280"/>
            <a:ext cx="548640" cy="365760"/>
          </a:xfrm>
          <a:prstGeom prst="rect">
            <a:avLst/>
          </a:prstGeom>
          <a:noFill/>
        </p:spPr>
        <p:txBody>
          <a:bodyPr wrap="square"/>
          <a:lstStyle/>
          <a:p>
            <a:pPr algn="ctr"/>
            <a:r>
              <a:rPr sz="1000" b="1">
                <a:solidFill>
                  <a:srgbClr val="FFFFFF"/>
                </a:solidFill>
                <a:latin typeface="Inter"/>
              </a:rPr>
              <a:t>Level 1</a:t>
            </a:r>
          </a:p>
        </p:txBody>
      </p:sp>
      <p:sp>
        <p:nvSpPr>
          <p:cNvPr id="8" name="TextBox 7"/>
          <p:cNvSpPr txBox="1"/>
          <p:nvPr/>
        </p:nvSpPr>
        <p:spPr>
          <a:xfrm>
            <a:off x="1828800" y="2148840"/>
            <a:ext cx="7772400" cy="365760"/>
          </a:xfrm>
          <a:prstGeom prst="rect">
            <a:avLst/>
          </a:prstGeom>
          <a:noFill/>
        </p:spPr>
        <p:txBody>
          <a:bodyPr wrap="square"/>
          <a:lstStyle/>
          <a:p>
            <a:pPr algn="l"/>
            <a:r>
              <a:rPr sz="1800" b="1">
                <a:solidFill>
                  <a:srgbClr val="FFFFFF"/>
                </a:solidFill>
                <a:latin typeface="Inter"/>
              </a:rPr>
              <a:t>Manual</a:t>
            </a:r>
          </a:p>
        </p:txBody>
      </p:sp>
      <p:sp>
        <p:nvSpPr>
          <p:cNvPr id="9" name="TextBox 8"/>
          <p:cNvSpPr txBox="1"/>
          <p:nvPr/>
        </p:nvSpPr>
        <p:spPr>
          <a:xfrm>
            <a:off x="1828800" y="2514600"/>
            <a:ext cx="7772400" cy="365760"/>
          </a:xfrm>
          <a:prstGeom prst="rect">
            <a:avLst/>
          </a:prstGeom>
          <a:noFill/>
        </p:spPr>
        <p:txBody>
          <a:bodyPr wrap="square"/>
          <a:lstStyle/>
          <a:p>
            <a:pPr algn="l"/>
            <a:r>
              <a:rPr sz="1200" b="0">
                <a:solidFill>
                  <a:srgbClr val="A0A0A0"/>
                </a:solidFill>
                <a:latin typeface="Inter"/>
              </a:rPr>
              <a:t>Document-driven compliance and periodic audits</a:t>
            </a:r>
          </a:p>
        </p:txBody>
      </p:sp>
      <p:sp>
        <p:nvSpPr>
          <p:cNvPr id="10" name="Rectangle 9"/>
          <p:cNvSpPr/>
          <p:nvPr/>
        </p:nvSpPr>
        <p:spPr>
          <a:xfrm>
            <a:off x="731520" y="3108960"/>
            <a:ext cx="9601200" cy="9601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108960"/>
            <a:ext cx="54864" cy="9601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3291840"/>
            <a:ext cx="54864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37560"/>
            <a:ext cx="548640" cy="365760"/>
          </a:xfrm>
          <a:prstGeom prst="rect">
            <a:avLst/>
          </a:prstGeom>
          <a:noFill/>
        </p:spPr>
        <p:txBody>
          <a:bodyPr wrap="square"/>
          <a:lstStyle/>
          <a:p>
            <a:pPr algn="ctr"/>
            <a:r>
              <a:rPr sz="1000" b="1">
                <a:solidFill>
                  <a:srgbClr val="FFFFFF"/>
                </a:solidFill>
                <a:latin typeface="Inter"/>
              </a:rPr>
              <a:t>Level 2</a:t>
            </a:r>
          </a:p>
        </p:txBody>
      </p:sp>
      <p:sp>
        <p:nvSpPr>
          <p:cNvPr id="14" name="TextBox 13"/>
          <p:cNvSpPr txBox="1"/>
          <p:nvPr/>
        </p:nvSpPr>
        <p:spPr>
          <a:xfrm>
            <a:off x="1828800" y="3246120"/>
            <a:ext cx="7772400" cy="365760"/>
          </a:xfrm>
          <a:prstGeom prst="rect">
            <a:avLst/>
          </a:prstGeom>
          <a:noFill/>
        </p:spPr>
        <p:txBody>
          <a:bodyPr wrap="square"/>
          <a:lstStyle/>
          <a:p>
            <a:pPr algn="l"/>
            <a:r>
              <a:rPr sz="1800" b="1">
                <a:solidFill>
                  <a:srgbClr val="FFFFFF"/>
                </a:solidFill>
                <a:latin typeface="Inter"/>
              </a:rPr>
              <a:t>Partially Automated</a:t>
            </a:r>
          </a:p>
        </p:txBody>
      </p:sp>
      <p:sp>
        <p:nvSpPr>
          <p:cNvPr id="15" name="TextBox 14"/>
          <p:cNvSpPr txBox="1"/>
          <p:nvPr/>
        </p:nvSpPr>
        <p:spPr>
          <a:xfrm>
            <a:off x="1828800" y="3611880"/>
            <a:ext cx="7772400" cy="365760"/>
          </a:xfrm>
          <a:prstGeom prst="rect">
            <a:avLst/>
          </a:prstGeom>
          <a:noFill/>
        </p:spPr>
        <p:txBody>
          <a:bodyPr wrap="square"/>
          <a:lstStyle/>
          <a:p>
            <a:pPr algn="l"/>
            <a:r>
              <a:rPr sz="1200" b="0">
                <a:solidFill>
                  <a:srgbClr val="A0A0A0"/>
                </a:solidFill>
                <a:latin typeface="Inter"/>
              </a:rPr>
              <a:t>Some cloud-native tools enabled, some monitoring exists</a:t>
            </a:r>
          </a:p>
        </p:txBody>
      </p:sp>
      <p:sp>
        <p:nvSpPr>
          <p:cNvPr id="16" name="Rectangle 15"/>
          <p:cNvSpPr/>
          <p:nvPr/>
        </p:nvSpPr>
        <p:spPr>
          <a:xfrm>
            <a:off x="731520" y="4206240"/>
            <a:ext cx="9601200" cy="9601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206240"/>
            <a:ext cx="54864" cy="9601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4389120"/>
            <a:ext cx="54864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434840"/>
            <a:ext cx="548640" cy="365760"/>
          </a:xfrm>
          <a:prstGeom prst="rect">
            <a:avLst/>
          </a:prstGeom>
          <a:noFill/>
        </p:spPr>
        <p:txBody>
          <a:bodyPr wrap="square"/>
          <a:lstStyle/>
          <a:p>
            <a:pPr algn="ctr"/>
            <a:r>
              <a:rPr sz="1000" b="1">
                <a:solidFill>
                  <a:srgbClr val="FFFFFF"/>
                </a:solidFill>
                <a:latin typeface="Inter"/>
              </a:rPr>
              <a:t>Level 3</a:t>
            </a:r>
          </a:p>
        </p:txBody>
      </p:sp>
      <p:sp>
        <p:nvSpPr>
          <p:cNvPr id="20" name="TextBox 19"/>
          <p:cNvSpPr txBox="1"/>
          <p:nvPr/>
        </p:nvSpPr>
        <p:spPr>
          <a:xfrm>
            <a:off x="1828800" y="4343400"/>
            <a:ext cx="7772400" cy="365760"/>
          </a:xfrm>
          <a:prstGeom prst="rect">
            <a:avLst/>
          </a:prstGeom>
          <a:noFill/>
        </p:spPr>
        <p:txBody>
          <a:bodyPr wrap="square"/>
          <a:lstStyle/>
          <a:p>
            <a:pPr algn="l"/>
            <a:r>
              <a:rPr sz="1800" b="1">
                <a:solidFill>
                  <a:srgbClr val="FFFFFF"/>
                </a:solidFill>
                <a:latin typeface="Inter"/>
              </a:rPr>
              <a:t>Engineered</a:t>
            </a:r>
          </a:p>
        </p:txBody>
      </p:sp>
      <p:sp>
        <p:nvSpPr>
          <p:cNvPr id="21" name="TextBox 20"/>
          <p:cNvSpPr txBox="1"/>
          <p:nvPr/>
        </p:nvSpPr>
        <p:spPr>
          <a:xfrm>
            <a:off x="1828800" y="4709160"/>
            <a:ext cx="7772400" cy="365760"/>
          </a:xfrm>
          <a:prstGeom prst="rect">
            <a:avLst/>
          </a:prstGeom>
          <a:noFill/>
        </p:spPr>
        <p:txBody>
          <a:bodyPr wrap="square"/>
          <a:lstStyle/>
          <a:p>
            <a:pPr algn="l"/>
            <a:r>
              <a:rPr sz="1200" b="0">
                <a:solidFill>
                  <a:srgbClr val="A0A0A0"/>
                </a:solidFill>
                <a:latin typeface="Inter"/>
              </a:rPr>
              <a:t>Compliance embedded in CI/CD, IaC baselines enforced, real-time dashboards</a:t>
            </a:r>
          </a:p>
        </p:txBody>
      </p:sp>
      <p:sp>
        <p:nvSpPr>
          <p:cNvPr id="22" name="Rectangle 21"/>
          <p:cNvSpPr/>
          <p:nvPr/>
        </p:nvSpPr>
        <p:spPr>
          <a:xfrm>
            <a:off x="731520" y="5303520"/>
            <a:ext cx="9601200" cy="9601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5303520"/>
            <a:ext cx="54864" cy="96012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7280" y="5486400"/>
            <a:ext cx="548640" cy="36576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532120"/>
            <a:ext cx="548640" cy="365760"/>
          </a:xfrm>
          <a:prstGeom prst="rect">
            <a:avLst/>
          </a:prstGeom>
          <a:noFill/>
        </p:spPr>
        <p:txBody>
          <a:bodyPr wrap="square"/>
          <a:lstStyle/>
          <a:p>
            <a:pPr algn="ctr"/>
            <a:r>
              <a:rPr sz="1000" b="1">
                <a:solidFill>
                  <a:srgbClr val="FFFFFF"/>
                </a:solidFill>
                <a:latin typeface="Inter"/>
              </a:rPr>
              <a:t>Level 4</a:t>
            </a:r>
          </a:p>
        </p:txBody>
      </p:sp>
      <p:sp>
        <p:nvSpPr>
          <p:cNvPr id="26" name="TextBox 25"/>
          <p:cNvSpPr txBox="1"/>
          <p:nvPr/>
        </p:nvSpPr>
        <p:spPr>
          <a:xfrm>
            <a:off x="1828800" y="5440680"/>
            <a:ext cx="7772400" cy="365760"/>
          </a:xfrm>
          <a:prstGeom prst="rect">
            <a:avLst/>
          </a:prstGeom>
          <a:noFill/>
        </p:spPr>
        <p:txBody>
          <a:bodyPr wrap="square"/>
          <a:lstStyle/>
          <a:p>
            <a:pPr algn="l"/>
            <a:r>
              <a:rPr sz="1800" b="1">
                <a:solidFill>
                  <a:srgbClr val="FFFFFF"/>
                </a:solidFill>
                <a:latin typeface="Inter"/>
              </a:rPr>
              <a:t>Continuous Authorization</a:t>
            </a:r>
          </a:p>
        </p:txBody>
      </p:sp>
      <p:sp>
        <p:nvSpPr>
          <p:cNvPr id="27" name="TextBox 26"/>
          <p:cNvSpPr txBox="1"/>
          <p:nvPr/>
        </p:nvSpPr>
        <p:spPr>
          <a:xfrm>
            <a:off x="1828800" y="5806440"/>
            <a:ext cx="7772400" cy="365760"/>
          </a:xfrm>
          <a:prstGeom prst="rect">
            <a:avLst/>
          </a:prstGeom>
          <a:noFill/>
        </p:spPr>
        <p:txBody>
          <a:bodyPr wrap="square"/>
          <a:lstStyle/>
          <a:p>
            <a:pPr algn="l"/>
            <a:r>
              <a:rPr sz="1200" b="0">
                <a:solidFill>
                  <a:srgbClr val="A0A0A0"/>
                </a:solidFill>
                <a:latin typeface="Inter"/>
              </a:rPr>
              <a:t>Full Policy as Code, OSCAL documentation, automated evidence, ongoing authorization</a:t>
            </a:r>
          </a:p>
        </p:txBody>
      </p:sp>
      <p:sp>
        <p:nvSpPr>
          <p:cNvPr id="28" name="Rectangle 27"/>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30" name="TextBox 29"/>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