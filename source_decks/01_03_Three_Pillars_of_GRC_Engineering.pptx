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Abdie just walked you through what GRC Engineering is and the maturity model. Now let's get into the technical architecture -- the three pillars that make GRC Engineering work in practice. These three pillars are: Cloud-Native Control Validation, CI/CD Evidence Integration, and Infrastructure as Code with Policy Guardrails. Every technical concept in this course maps back to one of these three pillars.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one: Cloud-Native Control Validation. Every major cloud provider ships security services that can automatically evaluate whether your infrastructure meets specific compliance requirements. AWS has Config Rules, Security Hub, GuardDuty, and Audit Manager. These services can continuously check things like: is encryption enabled, are access logs being collected, are IAM policies following least privilege. The key insight is that these checks map directly to NIST 800-53 controls. AC-2 Account Management? That's an IAM Access Analyzer finding. AU-2 Audit Events? That's a CloudTrail configuration check. SC-28 Protection of Information at Rest? That's an encryption validation rule.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two: CI/CD Evidence Integration. Modern development teams already run security tools in their pipelines -- static analysis, dependency scanning, container scanning, dynamic testing. All of that produces artifacts. In a traditional GRC program, those artifacts sit in the development team's tools and never make it to the compliance team. GRC Engineering connects the pipe. Your pipeline runs a SAST scan -- that result becomes SA-11 evidence. Your container scan checks for vulnerabilities -- that's RA-5 evidence. Your infrastructure deployment requires approval -- that's CM-3 change management evidence. The development team doesn't do any extra work. The compliance evidence is a byproduct of their normal process.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three: Infrastructure as Code and Policy Guardrails. This is where prevention meets enforcement. With IaC, you define your infrastructure in code -- Terraform, CloudFormation, Pulumi -- and that code becomes your source of truth. You don't configure servers in a console; you declare what they should look like in code, version control it, and deploy it through a pipeline. The compliance benefit is massive: every infrastructure change is auditable, reviewable, and repeatable. Policy Guardrails take it further. Using tools like OPA with Rego or HashiCorp Sentinel, you write compliance requirements as code that evaluates Terraform plans before deployment. If someone tries to deploy an unencrypted database, the policy catches it and blocks the deployment. Compliance isn't a hope -- it's a gate.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three pillars work together. You write your infrastructure in Terraform with compliance baked in -- that's Pillar three. Your CI/CD pipeline validates the Terraform plan against OPA policies and runs security scans -- that's Pillar two generating evidence. After deployment, cloud-native services continuously monitor the infrastructure to detect drift or new findings -- that's Pillar one providing ongoing validation. Evidence from all three flows into a central repository -- organized by control family, timestamped, and audit-ready. That's the GRC Engineering architecture. That's what we're building toward in this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114800" cy="457200"/>
          </a:xfrm>
          <a:prstGeom prst="rect">
            <a:avLst/>
          </a:prstGeom>
          <a:noFill/>
        </p:spPr>
        <p:txBody>
          <a:bodyPr wrap="square"/>
          <a:lstStyle/>
          <a:p>
            <a:pPr algn="l"/>
            <a:r>
              <a:rPr sz="1300" b="1">
                <a:solidFill>
                  <a:srgbClr val="E8650A"/>
                </a:solidFill>
                <a:latin typeface="Inter"/>
              </a:rPr>
              <a:t>GRC ENGINEERING CLUB</a:t>
            </a:r>
          </a:p>
        </p:txBody>
      </p:sp>
      <p:sp>
        <p:nvSpPr>
          <p:cNvPr id="5" name="TextBox 4"/>
          <p:cNvSpPr txBox="1"/>
          <p:nvPr/>
        </p:nvSpPr>
        <p:spPr>
          <a:xfrm>
            <a:off x="731520" y="2011680"/>
            <a:ext cx="4114800" cy="1828800"/>
          </a:xfrm>
          <a:prstGeom prst="rect">
            <a:avLst/>
          </a:prstGeom>
          <a:noFill/>
        </p:spPr>
        <p:txBody>
          <a:bodyPr wrap="square"/>
          <a:lstStyle/>
          <a:p>
            <a:pPr algn="l"/>
            <a:r>
              <a:rPr sz="4000" b="1">
                <a:solidFill>
                  <a:srgbClr val="FFFFFF"/>
                </a:solidFill>
                <a:latin typeface="Inter"/>
              </a:rPr>
              <a:t>Three Pillars of GRC Engineering</a:t>
            </a:r>
          </a:p>
        </p:txBody>
      </p:sp>
      <p:sp>
        <p:nvSpPr>
          <p:cNvPr id="6" name="TextBox 5"/>
          <p:cNvSpPr txBox="1"/>
          <p:nvPr/>
        </p:nvSpPr>
        <p:spPr>
          <a:xfrm>
            <a:off x="731520" y="3840480"/>
            <a:ext cx="4114800" cy="914400"/>
          </a:xfrm>
          <a:prstGeom prst="rect">
            <a:avLst/>
          </a:prstGeom>
          <a:noFill/>
        </p:spPr>
        <p:txBody>
          <a:bodyPr wrap="square"/>
          <a:lstStyle/>
          <a:p>
            <a:pPr algn="l"/>
            <a:r>
              <a:rPr sz="1600" b="0">
                <a:solidFill>
                  <a:srgbClr val="A0A0A0"/>
                </a:solidFill>
                <a:latin typeface="Inter"/>
              </a:rPr>
              <a:t>Chapter 1, Lesson 3</a:t>
            </a:r>
          </a:p>
        </p:txBody>
      </p:sp>
      <p:sp>
        <p:nvSpPr>
          <p:cNvPr id="7" name="Rectangle 6"/>
          <p:cNvSpPr/>
          <p:nvPr/>
        </p:nvSpPr>
        <p:spPr>
          <a:xfrm>
            <a:off x="731520" y="5029200"/>
            <a:ext cx="3200400" cy="1828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12080"/>
            <a:ext cx="3200400" cy="365760"/>
          </a:xfrm>
          <a:prstGeom prst="rect">
            <a:avLst/>
          </a:prstGeom>
          <a:noFill/>
        </p:spPr>
        <p:txBody>
          <a:bodyPr wrap="square"/>
          <a:lstStyle/>
          <a:p>
            <a:pPr algn="l"/>
            <a:r>
              <a:rPr sz="1300" b="0">
                <a:solidFill>
                  <a:srgbClr val="F5F5F5"/>
                </a:solidFill>
                <a:latin typeface="Inter"/>
              </a:rPr>
              <a:t>AJ Yawn</a:t>
            </a:r>
          </a:p>
        </p:txBody>
      </p:sp>
      <p:sp>
        <p:nvSpPr>
          <p:cNvPr id="9" name="TextBox 8"/>
          <p:cNvSpPr txBox="1"/>
          <p:nvPr/>
        </p:nvSpPr>
        <p:spPr>
          <a:xfrm>
            <a:off x="731520" y="5577840"/>
            <a:ext cx="3200400" cy="365760"/>
          </a:xfrm>
          <a:prstGeom prst="rect">
            <a:avLst/>
          </a:prstGeom>
          <a:noFill/>
        </p:spPr>
        <p:txBody>
          <a:bodyPr wrap="square"/>
          <a:lstStyle/>
          <a:p>
            <a:pPr algn="l"/>
            <a:r>
              <a:rPr sz="1100" b="0">
                <a:solidFill>
                  <a:srgbClr val="A0A0A0"/>
                </a:solidFill>
                <a:latin typeface="Inter"/>
              </a:rPr>
              <a:t>2026</a:t>
            </a:r>
          </a:p>
        </p:txBody>
      </p:sp>
      <p:sp>
        <p:nvSpPr>
          <p:cNvPr id="10" name="TextBox 9"/>
          <p:cNvSpPr txBox="1"/>
          <p:nvPr/>
        </p:nvSpPr>
        <p:spPr>
          <a:xfrm>
            <a:off x="5669280" y="1828800"/>
            <a:ext cx="5943600" cy="3200400"/>
          </a:xfrm>
          <a:prstGeom prst="rect">
            <a:avLst/>
          </a:prstGeom>
          <a:noFill/>
        </p:spPr>
        <p:txBody>
          <a:bodyPr wrap="square"/>
          <a:lstStyle/>
          <a:p>
            <a:pPr algn="l"/>
            <a:r>
              <a:rPr sz="14000" b="1">
                <a:solidFill>
                  <a:srgbClr val="1A1A1A"/>
                </a:solidFill>
                <a:latin typeface="Inter"/>
              </a:rPr>
              <a:t>ENG</a:t>
            </a:r>
          </a:p>
        </p:txBody>
      </p:sp>
      <p:sp>
        <p:nvSpPr>
          <p:cNvPr id="11" name="TextBox 10"/>
          <p:cNvSpPr txBox="1"/>
          <p:nvPr/>
        </p:nvSpPr>
        <p:spPr>
          <a:xfrm>
            <a:off x="5669280" y="5577840"/>
            <a:ext cx="5943600" cy="365760"/>
          </a:xfrm>
          <a:prstGeom prst="rect">
            <a:avLst/>
          </a:prstGeom>
          <a:noFill/>
        </p:spPr>
        <p:txBody>
          <a:bodyPr wrap="square"/>
          <a:lstStyle/>
          <a:p>
            <a:pPr algn="l"/>
            <a:r>
              <a:rPr sz="1200" b="0">
                <a:solidFill>
                  <a:srgbClr val="E8650A"/>
                </a:solidFill>
                <a:latin typeface="Inter"/>
              </a:rPr>
              <a:t>grcengclub.com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PILLAR 1</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Cloud-Native Control Validation</a:t>
            </a:r>
          </a:p>
        </p:txBody>
      </p:sp>
      <p:sp>
        <p:nvSpPr>
          <p:cNvPr id="4" name="TextBox 3"/>
          <p:cNvSpPr txBox="1"/>
          <p:nvPr/>
        </p:nvSpPr>
        <p:spPr>
          <a:xfrm>
            <a:off x="731520" y="1828800"/>
            <a:ext cx="9144000" cy="365760"/>
          </a:xfrm>
          <a:prstGeom prst="rect">
            <a:avLst/>
          </a:prstGeom>
          <a:noFill/>
        </p:spPr>
        <p:txBody>
          <a:bodyPr wrap="square"/>
          <a:lstStyle/>
          <a:p>
            <a:pPr algn="l"/>
            <a:r>
              <a:rPr sz="1700" b="1">
                <a:solidFill>
                  <a:srgbClr val="E8650A"/>
                </a:solidFill>
                <a:latin typeface="Inter"/>
              </a:rPr>
              <a:t>Cloud-Native → NIST 800-53 Mapping</a:t>
            </a:r>
          </a:p>
        </p:txBody>
      </p:sp>
      <p:sp>
        <p:nvSpPr>
          <p:cNvPr id="5" name="Rectangle 4"/>
          <p:cNvSpPr/>
          <p:nvPr/>
        </p:nvSpPr>
        <p:spPr>
          <a:xfrm>
            <a:off x="731520" y="237744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37744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560320"/>
            <a:ext cx="3840480" cy="365760"/>
          </a:xfrm>
          <a:prstGeom prst="rect">
            <a:avLst/>
          </a:prstGeom>
          <a:noFill/>
        </p:spPr>
        <p:txBody>
          <a:bodyPr wrap="square"/>
          <a:lstStyle/>
          <a:p>
            <a:pPr algn="l"/>
            <a:r>
              <a:rPr sz="1700" b="1">
                <a:solidFill>
                  <a:srgbClr val="FFFFFF"/>
                </a:solidFill>
                <a:latin typeface="Inter"/>
              </a:rPr>
              <a:t>AWS Config Rules</a:t>
            </a:r>
          </a:p>
        </p:txBody>
      </p:sp>
      <p:sp>
        <p:nvSpPr>
          <p:cNvPr id="8" name="TextBox 7"/>
          <p:cNvSpPr txBox="1"/>
          <p:nvPr/>
        </p:nvSpPr>
        <p:spPr>
          <a:xfrm>
            <a:off x="5486400" y="2514600"/>
            <a:ext cx="914400" cy="457200"/>
          </a:xfrm>
          <a:prstGeom prst="rect">
            <a:avLst/>
          </a:prstGeom>
          <a:noFill/>
        </p:spPr>
        <p:txBody>
          <a:bodyPr wrap="square"/>
          <a:lstStyle/>
          <a:p>
            <a:pPr algn="ctr"/>
            <a:r>
              <a:rPr sz="2400" b="1">
                <a:solidFill>
                  <a:srgbClr val="E8650A"/>
                </a:solidFill>
                <a:latin typeface="Inter"/>
              </a:rPr>
              <a:t>→</a:t>
            </a:r>
          </a:p>
        </p:txBody>
      </p:sp>
      <p:sp>
        <p:nvSpPr>
          <p:cNvPr id="9" name="Rectangle 8"/>
          <p:cNvSpPr/>
          <p:nvPr/>
        </p:nvSpPr>
        <p:spPr>
          <a:xfrm>
            <a:off x="6583680" y="237744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237744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560320"/>
            <a:ext cx="2926080" cy="365760"/>
          </a:xfrm>
          <a:prstGeom prst="rect">
            <a:avLst/>
          </a:prstGeom>
          <a:noFill/>
        </p:spPr>
        <p:txBody>
          <a:bodyPr wrap="square"/>
          <a:lstStyle/>
          <a:p>
            <a:pPr algn="l"/>
            <a:r>
              <a:rPr sz="1700" b="1">
                <a:solidFill>
                  <a:srgbClr val="FFFFFF"/>
                </a:solidFill>
                <a:latin typeface="Inter"/>
              </a:rPr>
              <a:t>SC-28, CM-6</a:t>
            </a:r>
          </a:p>
        </p:txBody>
      </p:sp>
      <p:sp>
        <p:nvSpPr>
          <p:cNvPr id="12" name="Rectangle 11"/>
          <p:cNvSpPr/>
          <p:nvPr/>
        </p:nvSpPr>
        <p:spPr>
          <a:xfrm>
            <a:off x="731520" y="333756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33756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520440"/>
            <a:ext cx="3840480" cy="365760"/>
          </a:xfrm>
          <a:prstGeom prst="rect">
            <a:avLst/>
          </a:prstGeom>
          <a:noFill/>
        </p:spPr>
        <p:txBody>
          <a:bodyPr wrap="square"/>
          <a:lstStyle/>
          <a:p>
            <a:pPr algn="l"/>
            <a:r>
              <a:rPr sz="1700" b="1">
                <a:solidFill>
                  <a:srgbClr val="FFFFFF"/>
                </a:solidFill>
                <a:latin typeface="Inter"/>
              </a:rPr>
              <a:t>Security Hub</a:t>
            </a:r>
          </a:p>
        </p:txBody>
      </p:sp>
      <p:sp>
        <p:nvSpPr>
          <p:cNvPr id="15" name="TextBox 14"/>
          <p:cNvSpPr txBox="1"/>
          <p:nvPr/>
        </p:nvSpPr>
        <p:spPr>
          <a:xfrm>
            <a:off x="5486400" y="3474720"/>
            <a:ext cx="914400" cy="457200"/>
          </a:xfrm>
          <a:prstGeom prst="rect">
            <a:avLst/>
          </a:prstGeom>
          <a:noFill/>
        </p:spPr>
        <p:txBody>
          <a:bodyPr wrap="square"/>
          <a:lstStyle/>
          <a:p>
            <a:pPr algn="ctr"/>
            <a:r>
              <a:rPr sz="2400" b="1">
                <a:solidFill>
                  <a:srgbClr val="E8650A"/>
                </a:solidFill>
                <a:latin typeface="Inter"/>
              </a:rPr>
              <a:t>→</a:t>
            </a:r>
          </a:p>
        </p:txBody>
      </p:sp>
      <p:sp>
        <p:nvSpPr>
          <p:cNvPr id="16" name="Rectangle 15"/>
          <p:cNvSpPr/>
          <p:nvPr/>
        </p:nvSpPr>
        <p:spPr>
          <a:xfrm>
            <a:off x="6583680" y="333756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33756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520440"/>
            <a:ext cx="2926080" cy="365760"/>
          </a:xfrm>
          <a:prstGeom prst="rect">
            <a:avLst/>
          </a:prstGeom>
          <a:noFill/>
        </p:spPr>
        <p:txBody>
          <a:bodyPr wrap="square"/>
          <a:lstStyle/>
          <a:p>
            <a:pPr algn="l"/>
            <a:r>
              <a:rPr sz="1700" b="1">
                <a:solidFill>
                  <a:srgbClr val="FFFFFF"/>
                </a:solidFill>
                <a:latin typeface="Inter"/>
              </a:rPr>
              <a:t>Multiple families</a:t>
            </a:r>
          </a:p>
        </p:txBody>
      </p:sp>
      <p:sp>
        <p:nvSpPr>
          <p:cNvPr id="19" name="Rectangle 18"/>
          <p:cNvSpPr/>
          <p:nvPr/>
        </p:nvSpPr>
        <p:spPr>
          <a:xfrm>
            <a:off x="731520" y="429768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29768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480560"/>
            <a:ext cx="3840480" cy="365760"/>
          </a:xfrm>
          <a:prstGeom prst="rect">
            <a:avLst/>
          </a:prstGeom>
          <a:noFill/>
        </p:spPr>
        <p:txBody>
          <a:bodyPr wrap="square"/>
          <a:lstStyle/>
          <a:p>
            <a:pPr algn="l"/>
            <a:r>
              <a:rPr sz="1700" b="1">
                <a:solidFill>
                  <a:srgbClr val="FFFFFF"/>
                </a:solidFill>
                <a:latin typeface="Inter"/>
              </a:rPr>
              <a:t>GuardDuty</a:t>
            </a:r>
          </a:p>
        </p:txBody>
      </p:sp>
      <p:sp>
        <p:nvSpPr>
          <p:cNvPr id="22" name="TextBox 21"/>
          <p:cNvSpPr txBox="1"/>
          <p:nvPr/>
        </p:nvSpPr>
        <p:spPr>
          <a:xfrm>
            <a:off x="5486400" y="4434840"/>
            <a:ext cx="914400" cy="457200"/>
          </a:xfrm>
          <a:prstGeom prst="rect">
            <a:avLst/>
          </a:prstGeom>
          <a:noFill/>
        </p:spPr>
        <p:txBody>
          <a:bodyPr wrap="square"/>
          <a:lstStyle/>
          <a:p>
            <a:pPr algn="ctr"/>
            <a:r>
              <a:rPr sz="2400" b="1">
                <a:solidFill>
                  <a:srgbClr val="E8650A"/>
                </a:solidFill>
                <a:latin typeface="Inter"/>
              </a:rPr>
              <a:t>→</a:t>
            </a:r>
          </a:p>
        </p:txBody>
      </p:sp>
      <p:sp>
        <p:nvSpPr>
          <p:cNvPr id="23" name="Rectangle 22"/>
          <p:cNvSpPr/>
          <p:nvPr/>
        </p:nvSpPr>
        <p:spPr>
          <a:xfrm>
            <a:off x="6583680" y="429768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429768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480560"/>
            <a:ext cx="2926080" cy="365760"/>
          </a:xfrm>
          <a:prstGeom prst="rect">
            <a:avLst/>
          </a:prstGeom>
          <a:noFill/>
        </p:spPr>
        <p:txBody>
          <a:bodyPr wrap="square"/>
          <a:lstStyle/>
          <a:p>
            <a:pPr algn="l"/>
            <a:r>
              <a:rPr sz="1700" b="1">
                <a:solidFill>
                  <a:srgbClr val="FFFFFF"/>
                </a:solidFill>
                <a:latin typeface="Inter"/>
              </a:rPr>
              <a:t>SI-4, IR-4</a:t>
            </a:r>
          </a:p>
        </p:txBody>
      </p:sp>
      <p:sp>
        <p:nvSpPr>
          <p:cNvPr id="26" name="Rectangle 25"/>
          <p:cNvSpPr/>
          <p:nvPr/>
        </p:nvSpPr>
        <p:spPr>
          <a:xfrm>
            <a:off x="731520" y="525780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25780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440680"/>
            <a:ext cx="3840480" cy="365760"/>
          </a:xfrm>
          <a:prstGeom prst="rect">
            <a:avLst/>
          </a:prstGeom>
          <a:noFill/>
        </p:spPr>
        <p:txBody>
          <a:bodyPr wrap="square"/>
          <a:lstStyle/>
          <a:p>
            <a:pPr algn="l"/>
            <a:r>
              <a:rPr sz="1700" b="1">
                <a:solidFill>
                  <a:srgbClr val="FFFFFF"/>
                </a:solidFill>
                <a:latin typeface="Inter"/>
              </a:rPr>
              <a:t>IAM Access Analyzer</a:t>
            </a:r>
          </a:p>
        </p:txBody>
      </p:sp>
      <p:sp>
        <p:nvSpPr>
          <p:cNvPr id="29" name="TextBox 28"/>
          <p:cNvSpPr txBox="1"/>
          <p:nvPr/>
        </p:nvSpPr>
        <p:spPr>
          <a:xfrm>
            <a:off x="5486400" y="5394960"/>
            <a:ext cx="914400" cy="457200"/>
          </a:xfrm>
          <a:prstGeom prst="rect">
            <a:avLst/>
          </a:prstGeom>
          <a:noFill/>
        </p:spPr>
        <p:txBody>
          <a:bodyPr wrap="square"/>
          <a:lstStyle/>
          <a:p>
            <a:pPr algn="ctr"/>
            <a:r>
              <a:rPr sz="2400" b="1">
                <a:solidFill>
                  <a:srgbClr val="E8650A"/>
                </a:solidFill>
                <a:latin typeface="Inter"/>
              </a:rPr>
              <a:t>→</a:t>
            </a:r>
          </a:p>
        </p:txBody>
      </p:sp>
      <p:sp>
        <p:nvSpPr>
          <p:cNvPr id="30" name="Rectangle 29"/>
          <p:cNvSpPr/>
          <p:nvPr/>
        </p:nvSpPr>
        <p:spPr>
          <a:xfrm>
            <a:off x="6583680" y="525780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0" y="525780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0" y="5440680"/>
            <a:ext cx="2926080" cy="365760"/>
          </a:xfrm>
          <a:prstGeom prst="rect">
            <a:avLst/>
          </a:prstGeom>
          <a:noFill/>
        </p:spPr>
        <p:txBody>
          <a:bodyPr wrap="square"/>
          <a:lstStyle/>
          <a:p>
            <a:pPr algn="l"/>
            <a:r>
              <a:rPr sz="1700" b="1">
                <a:solidFill>
                  <a:srgbClr val="FFFFFF"/>
                </a:solidFill>
                <a:latin typeface="Inter"/>
              </a:rPr>
              <a:t>AC-2, AC-6</a:t>
            </a:r>
          </a:p>
        </p:txBody>
      </p:sp>
      <p:sp>
        <p:nvSpPr>
          <p:cNvPr id="33" name="Rectangle 32"/>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35" name="TextBox 34"/>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PILLAR 2</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CI/CD Evidence Integration</a:t>
            </a:r>
          </a:p>
        </p:txBody>
      </p:sp>
      <p:sp>
        <p:nvSpPr>
          <p:cNvPr id="4" name="TextBox 3"/>
          <p:cNvSpPr txBox="1"/>
          <p:nvPr/>
        </p:nvSpPr>
        <p:spPr>
          <a:xfrm>
            <a:off x="731520" y="1828800"/>
            <a:ext cx="9144000" cy="365760"/>
          </a:xfrm>
          <a:prstGeom prst="rect">
            <a:avLst/>
          </a:prstGeom>
          <a:noFill/>
        </p:spPr>
        <p:txBody>
          <a:bodyPr wrap="square"/>
          <a:lstStyle/>
          <a:p>
            <a:pPr algn="l"/>
            <a:r>
              <a:rPr sz="1700" b="1">
                <a:solidFill>
                  <a:srgbClr val="E8650A"/>
                </a:solidFill>
                <a:latin typeface="Inter"/>
              </a:rPr>
              <a:t>CI/CD Pipeline → Compliance Evidence</a:t>
            </a:r>
          </a:p>
        </p:txBody>
      </p:sp>
      <p:sp>
        <p:nvSpPr>
          <p:cNvPr id="5" name="Rectangle 4"/>
          <p:cNvSpPr/>
          <p:nvPr/>
        </p:nvSpPr>
        <p:spPr>
          <a:xfrm>
            <a:off x="731520" y="237744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37744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560320"/>
            <a:ext cx="3840480" cy="365760"/>
          </a:xfrm>
          <a:prstGeom prst="rect">
            <a:avLst/>
          </a:prstGeom>
          <a:noFill/>
        </p:spPr>
        <p:txBody>
          <a:bodyPr wrap="square"/>
          <a:lstStyle/>
          <a:p>
            <a:pPr algn="l"/>
            <a:r>
              <a:rPr sz="1700" b="1">
                <a:solidFill>
                  <a:srgbClr val="FFFFFF"/>
                </a:solidFill>
                <a:latin typeface="Inter"/>
              </a:rPr>
              <a:t>SAST Scan</a:t>
            </a:r>
          </a:p>
        </p:txBody>
      </p:sp>
      <p:sp>
        <p:nvSpPr>
          <p:cNvPr id="8" name="TextBox 7"/>
          <p:cNvSpPr txBox="1"/>
          <p:nvPr/>
        </p:nvSpPr>
        <p:spPr>
          <a:xfrm>
            <a:off x="5486400" y="2514600"/>
            <a:ext cx="914400" cy="457200"/>
          </a:xfrm>
          <a:prstGeom prst="rect">
            <a:avLst/>
          </a:prstGeom>
          <a:noFill/>
        </p:spPr>
        <p:txBody>
          <a:bodyPr wrap="square"/>
          <a:lstStyle/>
          <a:p>
            <a:pPr algn="ctr"/>
            <a:r>
              <a:rPr sz="2400" b="1">
                <a:solidFill>
                  <a:srgbClr val="E8650A"/>
                </a:solidFill>
                <a:latin typeface="Inter"/>
              </a:rPr>
              <a:t>→</a:t>
            </a:r>
          </a:p>
        </p:txBody>
      </p:sp>
      <p:sp>
        <p:nvSpPr>
          <p:cNvPr id="9" name="Rectangle 8"/>
          <p:cNvSpPr/>
          <p:nvPr/>
        </p:nvSpPr>
        <p:spPr>
          <a:xfrm>
            <a:off x="6583680" y="237744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237744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560320"/>
            <a:ext cx="2926080" cy="365760"/>
          </a:xfrm>
          <a:prstGeom prst="rect">
            <a:avLst/>
          </a:prstGeom>
          <a:noFill/>
        </p:spPr>
        <p:txBody>
          <a:bodyPr wrap="square"/>
          <a:lstStyle/>
          <a:p>
            <a:pPr algn="l"/>
            <a:r>
              <a:rPr sz="1500" b="1">
                <a:solidFill>
                  <a:srgbClr val="FFFFFF"/>
                </a:solidFill>
                <a:latin typeface="Inter"/>
              </a:rPr>
              <a:t>SA-11 Developer Testing</a:t>
            </a:r>
          </a:p>
        </p:txBody>
      </p:sp>
      <p:sp>
        <p:nvSpPr>
          <p:cNvPr id="12" name="Rectangle 11"/>
          <p:cNvSpPr/>
          <p:nvPr/>
        </p:nvSpPr>
        <p:spPr>
          <a:xfrm>
            <a:off x="731520" y="333756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33756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520440"/>
            <a:ext cx="3840480" cy="365760"/>
          </a:xfrm>
          <a:prstGeom prst="rect">
            <a:avLst/>
          </a:prstGeom>
          <a:noFill/>
        </p:spPr>
        <p:txBody>
          <a:bodyPr wrap="square"/>
          <a:lstStyle/>
          <a:p>
            <a:pPr algn="l"/>
            <a:r>
              <a:rPr sz="1700" b="1">
                <a:solidFill>
                  <a:srgbClr val="FFFFFF"/>
                </a:solidFill>
                <a:latin typeface="Inter"/>
              </a:rPr>
              <a:t>SCA/CVE Check</a:t>
            </a:r>
          </a:p>
        </p:txBody>
      </p:sp>
      <p:sp>
        <p:nvSpPr>
          <p:cNvPr id="15" name="TextBox 14"/>
          <p:cNvSpPr txBox="1"/>
          <p:nvPr/>
        </p:nvSpPr>
        <p:spPr>
          <a:xfrm>
            <a:off x="5486400" y="3474720"/>
            <a:ext cx="914400" cy="457200"/>
          </a:xfrm>
          <a:prstGeom prst="rect">
            <a:avLst/>
          </a:prstGeom>
          <a:noFill/>
        </p:spPr>
        <p:txBody>
          <a:bodyPr wrap="square"/>
          <a:lstStyle/>
          <a:p>
            <a:pPr algn="ctr"/>
            <a:r>
              <a:rPr sz="2400" b="1">
                <a:solidFill>
                  <a:srgbClr val="E8650A"/>
                </a:solidFill>
                <a:latin typeface="Inter"/>
              </a:rPr>
              <a:t>→</a:t>
            </a:r>
          </a:p>
        </p:txBody>
      </p:sp>
      <p:sp>
        <p:nvSpPr>
          <p:cNvPr id="16" name="Rectangle 15"/>
          <p:cNvSpPr/>
          <p:nvPr/>
        </p:nvSpPr>
        <p:spPr>
          <a:xfrm>
            <a:off x="6583680" y="333756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33756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520440"/>
            <a:ext cx="2926080" cy="365760"/>
          </a:xfrm>
          <a:prstGeom prst="rect">
            <a:avLst/>
          </a:prstGeom>
          <a:noFill/>
        </p:spPr>
        <p:txBody>
          <a:bodyPr wrap="square"/>
          <a:lstStyle/>
          <a:p>
            <a:pPr algn="l"/>
            <a:r>
              <a:rPr sz="1500" b="1">
                <a:solidFill>
                  <a:srgbClr val="FFFFFF"/>
                </a:solidFill>
                <a:latin typeface="Inter"/>
              </a:rPr>
              <a:t>RA-5 Vulnerability Scanning</a:t>
            </a:r>
          </a:p>
        </p:txBody>
      </p:sp>
      <p:sp>
        <p:nvSpPr>
          <p:cNvPr id="19" name="Rectangle 18"/>
          <p:cNvSpPr/>
          <p:nvPr/>
        </p:nvSpPr>
        <p:spPr>
          <a:xfrm>
            <a:off x="731520" y="429768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29768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480560"/>
            <a:ext cx="3840480" cy="365760"/>
          </a:xfrm>
          <a:prstGeom prst="rect">
            <a:avLst/>
          </a:prstGeom>
          <a:noFill/>
        </p:spPr>
        <p:txBody>
          <a:bodyPr wrap="square"/>
          <a:lstStyle/>
          <a:p>
            <a:pPr algn="l"/>
            <a:r>
              <a:rPr sz="1700" b="1">
                <a:solidFill>
                  <a:srgbClr val="FFFFFF"/>
                </a:solidFill>
                <a:latin typeface="Inter"/>
              </a:rPr>
              <a:t>Container Scan</a:t>
            </a:r>
          </a:p>
        </p:txBody>
      </p:sp>
      <p:sp>
        <p:nvSpPr>
          <p:cNvPr id="22" name="TextBox 21"/>
          <p:cNvSpPr txBox="1"/>
          <p:nvPr/>
        </p:nvSpPr>
        <p:spPr>
          <a:xfrm>
            <a:off x="5486400" y="4434840"/>
            <a:ext cx="914400" cy="457200"/>
          </a:xfrm>
          <a:prstGeom prst="rect">
            <a:avLst/>
          </a:prstGeom>
          <a:noFill/>
        </p:spPr>
        <p:txBody>
          <a:bodyPr wrap="square"/>
          <a:lstStyle/>
          <a:p>
            <a:pPr algn="ctr"/>
            <a:r>
              <a:rPr sz="2400" b="1">
                <a:solidFill>
                  <a:srgbClr val="E8650A"/>
                </a:solidFill>
                <a:latin typeface="Inter"/>
              </a:rPr>
              <a:t>→</a:t>
            </a:r>
          </a:p>
        </p:txBody>
      </p:sp>
      <p:sp>
        <p:nvSpPr>
          <p:cNvPr id="23" name="Rectangle 22"/>
          <p:cNvSpPr/>
          <p:nvPr/>
        </p:nvSpPr>
        <p:spPr>
          <a:xfrm>
            <a:off x="6583680" y="429768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429768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480560"/>
            <a:ext cx="2926080" cy="365760"/>
          </a:xfrm>
          <a:prstGeom prst="rect">
            <a:avLst/>
          </a:prstGeom>
          <a:noFill/>
        </p:spPr>
        <p:txBody>
          <a:bodyPr wrap="square"/>
          <a:lstStyle/>
          <a:p>
            <a:pPr algn="l"/>
            <a:r>
              <a:rPr sz="1500" b="1">
                <a:solidFill>
                  <a:srgbClr val="FFFFFF"/>
                </a:solidFill>
                <a:latin typeface="Inter"/>
              </a:rPr>
              <a:t>SI-7 Software Integrity</a:t>
            </a:r>
          </a:p>
        </p:txBody>
      </p:sp>
      <p:sp>
        <p:nvSpPr>
          <p:cNvPr id="26" name="Rectangle 25"/>
          <p:cNvSpPr/>
          <p:nvPr/>
        </p:nvSpPr>
        <p:spPr>
          <a:xfrm>
            <a:off x="731520" y="5257800"/>
            <a:ext cx="45720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25780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440680"/>
            <a:ext cx="3840480" cy="365760"/>
          </a:xfrm>
          <a:prstGeom prst="rect">
            <a:avLst/>
          </a:prstGeom>
          <a:noFill/>
        </p:spPr>
        <p:txBody>
          <a:bodyPr wrap="square"/>
          <a:lstStyle/>
          <a:p>
            <a:pPr algn="l"/>
            <a:r>
              <a:rPr sz="1700" b="1">
                <a:solidFill>
                  <a:srgbClr val="FFFFFF"/>
                </a:solidFill>
                <a:latin typeface="Inter"/>
              </a:rPr>
              <a:t>Approval Gate</a:t>
            </a:r>
          </a:p>
        </p:txBody>
      </p:sp>
      <p:sp>
        <p:nvSpPr>
          <p:cNvPr id="29" name="TextBox 28"/>
          <p:cNvSpPr txBox="1"/>
          <p:nvPr/>
        </p:nvSpPr>
        <p:spPr>
          <a:xfrm>
            <a:off x="5486400" y="5394960"/>
            <a:ext cx="914400" cy="457200"/>
          </a:xfrm>
          <a:prstGeom prst="rect">
            <a:avLst/>
          </a:prstGeom>
          <a:noFill/>
        </p:spPr>
        <p:txBody>
          <a:bodyPr wrap="square"/>
          <a:lstStyle/>
          <a:p>
            <a:pPr algn="ctr"/>
            <a:r>
              <a:rPr sz="2400" b="1">
                <a:solidFill>
                  <a:srgbClr val="E8650A"/>
                </a:solidFill>
                <a:latin typeface="Inter"/>
              </a:rPr>
              <a:t>→</a:t>
            </a:r>
          </a:p>
        </p:txBody>
      </p:sp>
      <p:sp>
        <p:nvSpPr>
          <p:cNvPr id="30" name="Rectangle 29"/>
          <p:cNvSpPr/>
          <p:nvPr/>
        </p:nvSpPr>
        <p:spPr>
          <a:xfrm>
            <a:off x="6583680" y="5257800"/>
            <a:ext cx="36576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0" y="525780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0" y="5440680"/>
            <a:ext cx="2926080" cy="365760"/>
          </a:xfrm>
          <a:prstGeom prst="rect">
            <a:avLst/>
          </a:prstGeom>
          <a:noFill/>
        </p:spPr>
        <p:txBody>
          <a:bodyPr wrap="square"/>
          <a:lstStyle/>
          <a:p>
            <a:pPr algn="l"/>
            <a:r>
              <a:rPr sz="1500" b="1">
                <a:solidFill>
                  <a:srgbClr val="FFFFFF"/>
                </a:solidFill>
                <a:latin typeface="Inter"/>
              </a:rPr>
              <a:t>CM-3 Change Management</a:t>
            </a:r>
          </a:p>
        </p:txBody>
      </p:sp>
      <p:sp>
        <p:nvSpPr>
          <p:cNvPr id="33" name="Rectangle 32"/>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35" name="TextBox 34"/>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PILLAR 3</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IaC &amp; Policy Guardrails</a:t>
            </a:r>
          </a:p>
        </p:txBody>
      </p:sp>
      <p:sp>
        <p:nvSpPr>
          <p:cNvPr id="4" name="Rectangle 3"/>
          <p:cNvSpPr/>
          <p:nvPr/>
        </p:nvSpPr>
        <p:spPr>
          <a:xfrm>
            <a:off x="731520" y="2103120"/>
            <a:ext cx="96012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240280"/>
            <a:ext cx="36576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365760" cy="365760"/>
          </a:xfrm>
          <a:prstGeom prst="rect">
            <a:avLst/>
          </a:prstGeom>
          <a:noFill/>
        </p:spPr>
        <p:txBody>
          <a:bodyPr wrap="square"/>
          <a:lstStyle/>
          <a:p>
            <a:pPr algn="ctr"/>
            <a:r>
              <a:rPr sz="1000" b="1">
                <a:solidFill>
                  <a:srgbClr val="FFFFFF"/>
                </a:solidFill>
                <a:latin typeface="Inter"/>
              </a:rPr>
              <a:t>01</a:t>
            </a:r>
          </a:p>
        </p:txBody>
      </p:sp>
      <p:sp>
        <p:nvSpPr>
          <p:cNvPr id="8" name="TextBox 7"/>
          <p:cNvSpPr txBox="1"/>
          <p:nvPr/>
        </p:nvSpPr>
        <p:spPr>
          <a:xfrm>
            <a:off x="1645920" y="2194560"/>
            <a:ext cx="2286000" cy="365760"/>
          </a:xfrm>
          <a:prstGeom prst="rect">
            <a:avLst/>
          </a:prstGeom>
          <a:noFill/>
        </p:spPr>
        <p:txBody>
          <a:bodyPr wrap="square"/>
          <a:lstStyle/>
          <a:p>
            <a:pPr algn="l"/>
            <a:r>
              <a:rPr sz="1800" b="1">
                <a:solidFill>
                  <a:srgbClr val="FFFFFF"/>
                </a:solidFill>
                <a:latin typeface="Inter"/>
              </a:rPr>
              <a:t>Terraform</a:t>
            </a:r>
          </a:p>
        </p:txBody>
      </p:sp>
      <p:sp>
        <p:nvSpPr>
          <p:cNvPr id="9" name="TextBox 8"/>
          <p:cNvSpPr txBox="1"/>
          <p:nvPr/>
        </p:nvSpPr>
        <p:spPr>
          <a:xfrm>
            <a:off x="1645920" y="2514600"/>
            <a:ext cx="7315200" cy="274320"/>
          </a:xfrm>
          <a:prstGeom prst="rect">
            <a:avLst/>
          </a:prstGeom>
          <a:noFill/>
        </p:spPr>
        <p:txBody>
          <a:bodyPr wrap="square"/>
          <a:lstStyle/>
          <a:p>
            <a:pPr algn="l"/>
            <a:r>
              <a:rPr sz="1300" b="0">
                <a:solidFill>
                  <a:srgbClr val="A0A0A0"/>
                </a:solidFill>
                <a:latin typeface="Inter"/>
              </a:rPr>
              <a:t>Declares infrastructure</a:t>
            </a:r>
          </a:p>
        </p:txBody>
      </p:sp>
      <p:sp>
        <p:nvSpPr>
          <p:cNvPr id="10" name="Rectangle 9"/>
          <p:cNvSpPr/>
          <p:nvPr/>
        </p:nvSpPr>
        <p:spPr>
          <a:xfrm>
            <a:off x="731520" y="3063240"/>
            <a:ext cx="96012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06324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3200400"/>
            <a:ext cx="36576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46120"/>
            <a:ext cx="365760" cy="365760"/>
          </a:xfrm>
          <a:prstGeom prst="rect">
            <a:avLst/>
          </a:prstGeom>
          <a:noFill/>
        </p:spPr>
        <p:txBody>
          <a:bodyPr wrap="square"/>
          <a:lstStyle/>
          <a:p>
            <a:pPr algn="ctr"/>
            <a:r>
              <a:rPr sz="1000" b="1">
                <a:solidFill>
                  <a:srgbClr val="FFFFFF"/>
                </a:solidFill>
                <a:latin typeface="Inter"/>
              </a:rPr>
              <a:t>02</a:t>
            </a:r>
          </a:p>
        </p:txBody>
      </p:sp>
      <p:sp>
        <p:nvSpPr>
          <p:cNvPr id="14" name="TextBox 13"/>
          <p:cNvSpPr txBox="1"/>
          <p:nvPr/>
        </p:nvSpPr>
        <p:spPr>
          <a:xfrm>
            <a:off x="1645920" y="3154680"/>
            <a:ext cx="2286000" cy="365760"/>
          </a:xfrm>
          <a:prstGeom prst="rect">
            <a:avLst/>
          </a:prstGeom>
          <a:noFill/>
        </p:spPr>
        <p:txBody>
          <a:bodyPr wrap="square"/>
          <a:lstStyle/>
          <a:p>
            <a:pPr algn="l"/>
            <a:r>
              <a:rPr sz="1800" b="1">
                <a:solidFill>
                  <a:srgbClr val="FFFFFF"/>
                </a:solidFill>
                <a:latin typeface="Inter"/>
              </a:rPr>
              <a:t>Git</a:t>
            </a:r>
          </a:p>
        </p:txBody>
      </p:sp>
      <p:sp>
        <p:nvSpPr>
          <p:cNvPr id="15" name="TextBox 14"/>
          <p:cNvSpPr txBox="1"/>
          <p:nvPr/>
        </p:nvSpPr>
        <p:spPr>
          <a:xfrm>
            <a:off x="1645920" y="3474720"/>
            <a:ext cx="7315200" cy="274320"/>
          </a:xfrm>
          <a:prstGeom prst="rect">
            <a:avLst/>
          </a:prstGeom>
          <a:noFill/>
        </p:spPr>
        <p:txBody>
          <a:bodyPr wrap="square"/>
          <a:lstStyle/>
          <a:p>
            <a:pPr algn="l"/>
            <a:r>
              <a:rPr sz="1300" b="0">
                <a:solidFill>
                  <a:srgbClr val="A0A0A0"/>
                </a:solidFill>
                <a:latin typeface="Inter"/>
              </a:rPr>
              <a:t>Version controls changes</a:t>
            </a:r>
          </a:p>
        </p:txBody>
      </p:sp>
      <p:sp>
        <p:nvSpPr>
          <p:cNvPr id="16" name="Rectangle 15"/>
          <p:cNvSpPr/>
          <p:nvPr/>
        </p:nvSpPr>
        <p:spPr>
          <a:xfrm>
            <a:off x="731520" y="4023360"/>
            <a:ext cx="96012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02336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4160520"/>
            <a:ext cx="36576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206240"/>
            <a:ext cx="365760" cy="365760"/>
          </a:xfrm>
          <a:prstGeom prst="rect">
            <a:avLst/>
          </a:prstGeom>
          <a:noFill/>
        </p:spPr>
        <p:txBody>
          <a:bodyPr wrap="square"/>
          <a:lstStyle/>
          <a:p>
            <a:pPr algn="ctr"/>
            <a:r>
              <a:rPr sz="1000" b="1">
                <a:solidFill>
                  <a:srgbClr val="FFFFFF"/>
                </a:solidFill>
                <a:latin typeface="Inter"/>
              </a:rPr>
              <a:t>03</a:t>
            </a:r>
          </a:p>
        </p:txBody>
      </p:sp>
      <p:sp>
        <p:nvSpPr>
          <p:cNvPr id="20" name="TextBox 19"/>
          <p:cNvSpPr txBox="1"/>
          <p:nvPr/>
        </p:nvSpPr>
        <p:spPr>
          <a:xfrm>
            <a:off x="1645920" y="4114800"/>
            <a:ext cx="2286000" cy="365760"/>
          </a:xfrm>
          <a:prstGeom prst="rect">
            <a:avLst/>
          </a:prstGeom>
          <a:noFill/>
        </p:spPr>
        <p:txBody>
          <a:bodyPr wrap="square"/>
          <a:lstStyle/>
          <a:p>
            <a:pPr algn="l"/>
            <a:r>
              <a:rPr sz="1800" b="1">
                <a:solidFill>
                  <a:srgbClr val="FFFFFF"/>
                </a:solidFill>
                <a:latin typeface="Inter"/>
              </a:rPr>
              <a:t>OPA/Rego</a:t>
            </a:r>
          </a:p>
        </p:txBody>
      </p:sp>
      <p:sp>
        <p:nvSpPr>
          <p:cNvPr id="21" name="TextBox 20"/>
          <p:cNvSpPr txBox="1"/>
          <p:nvPr/>
        </p:nvSpPr>
        <p:spPr>
          <a:xfrm>
            <a:off x="1645920" y="4434840"/>
            <a:ext cx="7315200" cy="274320"/>
          </a:xfrm>
          <a:prstGeom prst="rect">
            <a:avLst/>
          </a:prstGeom>
          <a:noFill/>
        </p:spPr>
        <p:txBody>
          <a:bodyPr wrap="square"/>
          <a:lstStyle/>
          <a:p>
            <a:pPr algn="l"/>
            <a:r>
              <a:rPr sz="1300" b="0">
                <a:solidFill>
                  <a:srgbClr val="A0A0A0"/>
                </a:solidFill>
                <a:latin typeface="Inter"/>
              </a:rPr>
              <a:t>Validates compliance</a:t>
            </a:r>
          </a:p>
        </p:txBody>
      </p:sp>
      <p:sp>
        <p:nvSpPr>
          <p:cNvPr id="22" name="Rectangle 21"/>
          <p:cNvSpPr/>
          <p:nvPr/>
        </p:nvSpPr>
        <p:spPr>
          <a:xfrm>
            <a:off x="731520" y="4983480"/>
            <a:ext cx="96012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4983480"/>
            <a:ext cx="54864" cy="77724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7280" y="5120640"/>
            <a:ext cx="36576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166360"/>
            <a:ext cx="365760" cy="365760"/>
          </a:xfrm>
          <a:prstGeom prst="rect">
            <a:avLst/>
          </a:prstGeom>
          <a:noFill/>
        </p:spPr>
        <p:txBody>
          <a:bodyPr wrap="square"/>
          <a:lstStyle/>
          <a:p>
            <a:pPr algn="ctr"/>
            <a:r>
              <a:rPr sz="1000" b="1">
                <a:solidFill>
                  <a:srgbClr val="FFFFFF"/>
                </a:solidFill>
                <a:latin typeface="Inter"/>
              </a:rPr>
              <a:t>04</a:t>
            </a:r>
          </a:p>
        </p:txBody>
      </p:sp>
      <p:sp>
        <p:nvSpPr>
          <p:cNvPr id="26" name="TextBox 25"/>
          <p:cNvSpPr txBox="1"/>
          <p:nvPr/>
        </p:nvSpPr>
        <p:spPr>
          <a:xfrm>
            <a:off x="1645920" y="5074920"/>
            <a:ext cx="2286000" cy="365760"/>
          </a:xfrm>
          <a:prstGeom prst="rect">
            <a:avLst/>
          </a:prstGeom>
          <a:noFill/>
        </p:spPr>
        <p:txBody>
          <a:bodyPr wrap="square"/>
          <a:lstStyle/>
          <a:p>
            <a:pPr algn="l"/>
            <a:r>
              <a:rPr sz="1800" b="1">
                <a:solidFill>
                  <a:srgbClr val="FFFFFF"/>
                </a:solidFill>
                <a:latin typeface="Inter"/>
              </a:rPr>
              <a:t>CI/CD</a:t>
            </a:r>
          </a:p>
        </p:txBody>
      </p:sp>
      <p:sp>
        <p:nvSpPr>
          <p:cNvPr id="27" name="TextBox 26"/>
          <p:cNvSpPr txBox="1"/>
          <p:nvPr/>
        </p:nvSpPr>
        <p:spPr>
          <a:xfrm>
            <a:off x="1645920" y="5394960"/>
            <a:ext cx="7315200" cy="274320"/>
          </a:xfrm>
          <a:prstGeom prst="rect">
            <a:avLst/>
          </a:prstGeom>
          <a:noFill/>
        </p:spPr>
        <p:txBody>
          <a:bodyPr wrap="square"/>
          <a:lstStyle/>
          <a:p>
            <a:pPr algn="l"/>
            <a:r>
              <a:rPr sz="1300" b="0">
                <a:solidFill>
                  <a:srgbClr val="A0A0A0"/>
                </a:solidFill>
                <a:latin typeface="Inter"/>
              </a:rPr>
              <a:t>Enforces the gate</a:t>
            </a:r>
          </a:p>
        </p:txBody>
      </p:sp>
      <p:sp>
        <p:nvSpPr>
          <p:cNvPr id="28" name="Rectangle 27"/>
          <p:cNvSpPr/>
          <p:nvPr/>
        </p:nvSpPr>
        <p:spPr>
          <a:xfrm>
            <a:off x="731520" y="6126480"/>
            <a:ext cx="9601200" cy="8229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6126480"/>
            <a:ext cx="960120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6309360"/>
            <a:ext cx="8686800" cy="457200"/>
          </a:xfrm>
          <a:prstGeom prst="rect">
            <a:avLst/>
          </a:prstGeom>
          <a:noFill/>
        </p:spPr>
        <p:txBody>
          <a:bodyPr wrap="square"/>
          <a:lstStyle/>
          <a:p>
            <a:pPr algn="l"/>
            <a:r>
              <a:rPr sz="2000" b="1">
                <a:solidFill>
                  <a:srgbClr val="FFFFFF"/>
                </a:solidFill>
                <a:latin typeface="Inter"/>
              </a:rPr>
              <a:t>Result: Non-compliant infrastructure cannot deploy</a:t>
            </a:r>
          </a:p>
        </p:txBody>
      </p:sp>
      <p:sp>
        <p:nvSpPr>
          <p:cNvPr id="31" name="Rectangle 30"/>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33" name="TextBox 32"/>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ARCHITECTURE</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The GRC Engineering Architecture</a:t>
            </a:r>
          </a:p>
        </p:txBody>
      </p:sp>
      <p:sp>
        <p:nvSpPr>
          <p:cNvPr id="4" name="Rectangle 3"/>
          <p:cNvSpPr/>
          <p:nvPr/>
        </p:nvSpPr>
        <p:spPr>
          <a:xfrm>
            <a:off x="731520" y="2103120"/>
            <a:ext cx="68580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9144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40280"/>
            <a:ext cx="5943600" cy="365760"/>
          </a:xfrm>
          <a:prstGeom prst="rect">
            <a:avLst/>
          </a:prstGeom>
          <a:noFill/>
        </p:spPr>
        <p:txBody>
          <a:bodyPr wrap="square"/>
          <a:lstStyle/>
          <a:p>
            <a:pPr algn="l"/>
            <a:r>
              <a:rPr sz="1800" b="1">
                <a:solidFill>
                  <a:srgbClr val="FFFFFF"/>
                </a:solidFill>
                <a:latin typeface="Inter"/>
              </a:rPr>
              <a:t>Pillar 3: IaC</a:t>
            </a:r>
          </a:p>
        </p:txBody>
      </p:sp>
      <p:sp>
        <p:nvSpPr>
          <p:cNvPr id="7" name="TextBox 6"/>
          <p:cNvSpPr txBox="1"/>
          <p:nvPr/>
        </p:nvSpPr>
        <p:spPr>
          <a:xfrm>
            <a:off x="1188720" y="2606040"/>
            <a:ext cx="5943600" cy="274320"/>
          </a:xfrm>
          <a:prstGeom prst="rect">
            <a:avLst/>
          </a:prstGeom>
          <a:noFill/>
        </p:spPr>
        <p:txBody>
          <a:bodyPr wrap="square"/>
          <a:lstStyle/>
          <a:p>
            <a:pPr algn="l"/>
            <a:r>
              <a:rPr sz="1300" b="0">
                <a:solidFill>
                  <a:srgbClr val="A0A0A0"/>
                </a:solidFill>
                <a:latin typeface="Inter"/>
              </a:rPr>
              <a:t>Write &amp; version infrastructure code</a:t>
            </a:r>
          </a:p>
        </p:txBody>
      </p:sp>
      <p:sp>
        <p:nvSpPr>
          <p:cNvPr id="8" name="TextBox 7"/>
          <p:cNvSpPr txBox="1"/>
          <p:nvPr/>
        </p:nvSpPr>
        <p:spPr>
          <a:xfrm>
            <a:off x="4114800" y="3017520"/>
            <a:ext cx="914400" cy="365760"/>
          </a:xfrm>
          <a:prstGeom prst="rect">
            <a:avLst/>
          </a:prstGeom>
          <a:noFill/>
        </p:spPr>
        <p:txBody>
          <a:bodyPr wrap="square"/>
          <a:lstStyle/>
          <a:p>
            <a:pPr algn="ctr"/>
            <a:r>
              <a:rPr sz="2400" b="1">
                <a:solidFill>
                  <a:srgbClr val="E8650A"/>
                </a:solidFill>
                <a:latin typeface="Inter"/>
              </a:rPr>
              <a:t>↓</a:t>
            </a:r>
          </a:p>
        </p:txBody>
      </p:sp>
      <p:sp>
        <p:nvSpPr>
          <p:cNvPr id="9" name="Rectangle 8"/>
          <p:cNvSpPr/>
          <p:nvPr/>
        </p:nvSpPr>
        <p:spPr>
          <a:xfrm>
            <a:off x="731520" y="3337560"/>
            <a:ext cx="68580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54864" cy="9144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474720"/>
            <a:ext cx="5943600" cy="365760"/>
          </a:xfrm>
          <a:prstGeom prst="rect">
            <a:avLst/>
          </a:prstGeom>
          <a:noFill/>
        </p:spPr>
        <p:txBody>
          <a:bodyPr wrap="square"/>
          <a:lstStyle/>
          <a:p>
            <a:pPr algn="l"/>
            <a:r>
              <a:rPr sz="1800" b="1">
                <a:solidFill>
                  <a:srgbClr val="FFFFFF"/>
                </a:solidFill>
                <a:latin typeface="Inter"/>
              </a:rPr>
              <a:t>Pillar 2: CI/CD</a:t>
            </a:r>
          </a:p>
        </p:txBody>
      </p:sp>
      <p:sp>
        <p:nvSpPr>
          <p:cNvPr id="12" name="TextBox 11"/>
          <p:cNvSpPr txBox="1"/>
          <p:nvPr/>
        </p:nvSpPr>
        <p:spPr>
          <a:xfrm>
            <a:off x="1188720" y="3840480"/>
            <a:ext cx="5943600" cy="274320"/>
          </a:xfrm>
          <a:prstGeom prst="rect">
            <a:avLst/>
          </a:prstGeom>
          <a:noFill/>
        </p:spPr>
        <p:txBody>
          <a:bodyPr wrap="square"/>
          <a:lstStyle/>
          <a:p>
            <a:pPr algn="l"/>
            <a:r>
              <a:rPr sz="1300" b="0">
                <a:solidFill>
                  <a:srgbClr val="A0A0A0"/>
                </a:solidFill>
                <a:latin typeface="Inter"/>
              </a:rPr>
              <a:t>Validate, scan, and generate evidence</a:t>
            </a:r>
          </a:p>
        </p:txBody>
      </p:sp>
      <p:sp>
        <p:nvSpPr>
          <p:cNvPr id="13" name="TextBox 12"/>
          <p:cNvSpPr txBox="1"/>
          <p:nvPr/>
        </p:nvSpPr>
        <p:spPr>
          <a:xfrm>
            <a:off x="4114800" y="4251960"/>
            <a:ext cx="914400" cy="365760"/>
          </a:xfrm>
          <a:prstGeom prst="rect">
            <a:avLst/>
          </a:prstGeom>
          <a:noFill/>
        </p:spPr>
        <p:txBody>
          <a:bodyPr wrap="square"/>
          <a:lstStyle/>
          <a:p>
            <a:pPr algn="ctr"/>
            <a:r>
              <a:rPr sz="2400" b="1">
                <a:solidFill>
                  <a:srgbClr val="E8650A"/>
                </a:solidFill>
                <a:latin typeface="Inter"/>
              </a:rPr>
              <a:t>↓</a:t>
            </a:r>
          </a:p>
        </p:txBody>
      </p:sp>
      <p:sp>
        <p:nvSpPr>
          <p:cNvPr id="14" name="Rectangle 13"/>
          <p:cNvSpPr/>
          <p:nvPr/>
        </p:nvSpPr>
        <p:spPr>
          <a:xfrm>
            <a:off x="731520" y="4572000"/>
            <a:ext cx="68580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572000"/>
            <a:ext cx="54864" cy="9144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709160"/>
            <a:ext cx="5943600" cy="365760"/>
          </a:xfrm>
          <a:prstGeom prst="rect">
            <a:avLst/>
          </a:prstGeom>
          <a:noFill/>
        </p:spPr>
        <p:txBody>
          <a:bodyPr wrap="square"/>
          <a:lstStyle/>
          <a:p>
            <a:pPr algn="l"/>
            <a:r>
              <a:rPr sz="1800" b="1">
                <a:solidFill>
                  <a:srgbClr val="FFFFFF"/>
                </a:solidFill>
                <a:latin typeface="Inter"/>
              </a:rPr>
              <a:t>Pillar 1: Cloud-Native</a:t>
            </a:r>
          </a:p>
        </p:txBody>
      </p:sp>
      <p:sp>
        <p:nvSpPr>
          <p:cNvPr id="17" name="TextBox 16"/>
          <p:cNvSpPr txBox="1"/>
          <p:nvPr/>
        </p:nvSpPr>
        <p:spPr>
          <a:xfrm>
            <a:off x="1188720" y="5074920"/>
            <a:ext cx="5943600" cy="274320"/>
          </a:xfrm>
          <a:prstGeom prst="rect">
            <a:avLst/>
          </a:prstGeom>
          <a:noFill/>
        </p:spPr>
        <p:txBody>
          <a:bodyPr wrap="square"/>
          <a:lstStyle/>
          <a:p>
            <a:pPr algn="l"/>
            <a:r>
              <a:rPr sz="1300" b="0">
                <a:solidFill>
                  <a:srgbClr val="A0A0A0"/>
                </a:solidFill>
                <a:latin typeface="Inter"/>
              </a:rPr>
              <a:t>Continuously monitor deployed infrastructure</a:t>
            </a:r>
          </a:p>
        </p:txBody>
      </p:sp>
      <p:sp>
        <p:nvSpPr>
          <p:cNvPr id="18" name="Rectangle 17"/>
          <p:cNvSpPr/>
          <p:nvPr/>
        </p:nvSpPr>
        <p:spPr>
          <a:xfrm>
            <a:off x="8229600" y="2103120"/>
            <a:ext cx="2286000" cy="3657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103120"/>
            <a:ext cx="228600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377440"/>
            <a:ext cx="1920240" cy="365760"/>
          </a:xfrm>
          <a:prstGeom prst="rect">
            <a:avLst/>
          </a:prstGeom>
          <a:noFill/>
        </p:spPr>
        <p:txBody>
          <a:bodyPr wrap="square"/>
          <a:lstStyle/>
          <a:p>
            <a:pPr algn="ctr"/>
            <a:r>
              <a:rPr sz="1400" b="1">
                <a:solidFill>
                  <a:srgbClr val="E8650A"/>
                </a:solidFill>
                <a:latin typeface="Inter"/>
              </a:rPr>
              <a:t>Evidence Repository</a:t>
            </a:r>
          </a:p>
        </p:txBody>
      </p:sp>
      <p:sp>
        <p:nvSpPr>
          <p:cNvPr id="21" name="TextBox 20"/>
          <p:cNvSpPr txBox="1"/>
          <p:nvPr/>
        </p:nvSpPr>
        <p:spPr>
          <a:xfrm>
            <a:off x="8412480" y="2926080"/>
            <a:ext cx="1920240" cy="365760"/>
          </a:xfrm>
          <a:prstGeom prst="rect">
            <a:avLst/>
          </a:prstGeom>
          <a:noFill/>
        </p:spPr>
        <p:txBody>
          <a:bodyPr wrap="square"/>
          <a:lstStyle/>
          <a:p>
            <a:pPr algn="ctr"/>
            <a:r>
              <a:rPr sz="1100" b="0">
                <a:solidFill>
                  <a:srgbClr val="A0A0A0"/>
                </a:solidFill>
                <a:latin typeface="Inter"/>
              </a:rPr>
              <a:t>Organized by control family</a:t>
            </a:r>
          </a:p>
        </p:txBody>
      </p:sp>
      <p:sp>
        <p:nvSpPr>
          <p:cNvPr id="22" name="TextBox 21"/>
          <p:cNvSpPr txBox="1"/>
          <p:nvPr/>
        </p:nvSpPr>
        <p:spPr>
          <a:xfrm>
            <a:off x="8412480" y="3383280"/>
            <a:ext cx="1920240" cy="365760"/>
          </a:xfrm>
          <a:prstGeom prst="rect">
            <a:avLst/>
          </a:prstGeom>
          <a:noFill/>
        </p:spPr>
        <p:txBody>
          <a:bodyPr wrap="square"/>
          <a:lstStyle/>
          <a:p>
            <a:pPr algn="ctr"/>
            <a:r>
              <a:rPr sz="1100" b="0">
                <a:solidFill>
                  <a:srgbClr val="A0A0A0"/>
                </a:solidFill>
                <a:latin typeface="Inter"/>
              </a:rPr>
              <a:t>Timestamped</a:t>
            </a:r>
          </a:p>
        </p:txBody>
      </p:sp>
      <p:sp>
        <p:nvSpPr>
          <p:cNvPr id="23" name="TextBox 22"/>
          <p:cNvSpPr txBox="1"/>
          <p:nvPr/>
        </p:nvSpPr>
        <p:spPr>
          <a:xfrm>
            <a:off x="8412480" y="3840480"/>
            <a:ext cx="1920240" cy="365760"/>
          </a:xfrm>
          <a:prstGeom prst="rect">
            <a:avLst/>
          </a:prstGeom>
          <a:noFill/>
        </p:spPr>
        <p:txBody>
          <a:bodyPr wrap="square"/>
          <a:lstStyle/>
          <a:p>
            <a:pPr algn="ctr"/>
            <a:r>
              <a:rPr sz="1100" b="0">
                <a:solidFill>
                  <a:srgbClr val="A0A0A0"/>
                </a:solidFill>
                <a:latin typeface="Inter"/>
              </a:rPr>
              <a:t>Audit-ready</a:t>
            </a:r>
          </a:p>
        </p:txBody>
      </p:sp>
      <p:sp>
        <p:nvSpPr>
          <p:cNvPr id="24" name="TextBox 23"/>
          <p:cNvSpPr txBox="1"/>
          <p:nvPr/>
        </p:nvSpPr>
        <p:spPr>
          <a:xfrm>
            <a:off x="7680960" y="2377440"/>
            <a:ext cx="548640" cy="365760"/>
          </a:xfrm>
          <a:prstGeom prst="rect">
            <a:avLst/>
          </a:prstGeom>
          <a:noFill/>
        </p:spPr>
        <p:txBody>
          <a:bodyPr wrap="square"/>
          <a:lstStyle/>
          <a:p>
            <a:pPr algn="ctr"/>
            <a:r>
              <a:rPr sz="2000" b="1">
                <a:solidFill>
                  <a:srgbClr val="E8650A"/>
                </a:solidFill>
                <a:latin typeface="Inter"/>
              </a:rPr>
              <a:t>→</a:t>
            </a:r>
          </a:p>
        </p:txBody>
      </p:sp>
      <p:sp>
        <p:nvSpPr>
          <p:cNvPr id="25" name="TextBox 24"/>
          <p:cNvSpPr txBox="1"/>
          <p:nvPr/>
        </p:nvSpPr>
        <p:spPr>
          <a:xfrm>
            <a:off x="7680960" y="3566160"/>
            <a:ext cx="548640" cy="365760"/>
          </a:xfrm>
          <a:prstGeom prst="rect">
            <a:avLst/>
          </a:prstGeom>
          <a:noFill/>
        </p:spPr>
        <p:txBody>
          <a:bodyPr wrap="square"/>
          <a:lstStyle/>
          <a:p>
            <a:pPr algn="ctr"/>
            <a:r>
              <a:rPr sz="2000" b="1">
                <a:solidFill>
                  <a:srgbClr val="E8650A"/>
                </a:solidFill>
                <a:latin typeface="Inter"/>
              </a:rPr>
              <a:t>→</a:t>
            </a:r>
          </a:p>
        </p:txBody>
      </p:sp>
      <p:sp>
        <p:nvSpPr>
          <p:cNvPr id="26" name="TextBox 25"/>
          <p:cNvSpPr txBox="1"/>
          <p:nvPr/>
        </p:nvSpPr>
        <p:spPr>
          <a:xfrm>
            <a:off x="7680960" y="4846320"/>
            <a:ext cx="548640" cy="365760"/>
          </a:xfrm>
          <a:prstGeom prst="rect">
            <a:avLst/>
          </a:prstGeom>
          <a:noFill/>
        </p:spPr>
        <p:txBody>
          <a:bodyPr wrap="square"/>
          <a:lstStyle/>
          <a:p>
            <a:pPr algn="ctr"/>
            <a:r>
              <a:rPr sz="2000" b="1">
                <a:solidFill>
                  <a:srgbClr val="E8650A"/>
                </a:solidFill>
                <a:latin typeface="Inter"/>
              </a:rPr>
              <a:t>→</a:t>
            </a:r>
          </a:p>
        </p:txBody>
      </p:sp>
      <p:sp>
        <p:nvSpPr>
          <p:cNvPr id="27" name="Rectangle 26"/>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29" name="TextBox 28"/>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