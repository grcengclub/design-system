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 You made it. Seven chapters. Three pillars. Four technical skills -- Terraform, OPA, CI/CD, and OSCAL. One portfolio. And if you've been building along the way, you're not just ready for the exam -- you're ready to practice GRC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 Let that sink in. Seven chapters of material. Three pillars that define the discipline. Four technical skills you can demonstrate on day one. And one portfolio that proves you can do it. That's what sets this apart from every other GRC certification -- you didn't just memorize definitions. You built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 Here's the fundamental shift you've made. You've gone from documentation as aspiration -- where policies describe what should happen -- to documentation as proof, where your code demonstrates what does happen. From writing policies that sit in a shared drive to writing enforcement that runs in a pipeline. From hoping for compliance to engineering compliance. And once you see it, you can't unsee it. Every time you see a manual evidence collection process, you'll think: that could be automated. Every time you see a policy document, you'll think: that could be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 Let's talk exam prep. The CGE-P exam is 60 questions in 90 minutes. You need 72 percent to pass. If you don't pass on the first attempt, there's a 14-day retake window. For study focus areas: know the Maturity Model levels cold. Understand the three pillars and how they interconnect. Be comfortable with the major frameworks -- NIST 800-53, FedRAMP, SOC 2 -- and how GRC Engineering applies to each. Master the Now/Next/Later implementation framework. And critically, know how Terraform, OPA, CI/CD, and OSCAL integrate together. The exam is scenario-heavy. It's not about memorizing definitions -- it's about thinking like a practitioner. Check lesson 07_04 for the full exam guide.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 So what's next? First, submit your capstone pull request if you haven't already. Second, join the GRC Engineering Club community -- that's where practitioners share what's working, ask questions, and push the discipline forward. Third, start practicing at work. You don't need permission to move from Level 1 to Level 2. Pick one control, write one Terraform module, create one OPA policy. Start small and build. Fourth, shape the discipline. GRC Engineering is still early. The frameworks, the tools, the best practices -- they're still being defined. You're not just learning a discipline. You're helping build it. Thanks for building with us. We'll see you in the community.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4114800" cy="457200"/>
          </a:xfrm>
          <a:prstGeom prst="rect">
            <a:avLst/>
          </a:prstGeom>
          <a:noFill/>
        </p:spPr>
        <p:txBody>
          <a:bodyPr wrap="square"/>
          <a:lstStyle/>
          <a:p>
            <a:pPr algn="l"/>
            <a:r>
              <a:rPr sz="1300" b="1">
                <a:solidFill>
                  <a:srgbClr val="E8650A"/>
                </a:solidFill>
                <a:latin typeface="Inter"/>
              </a:rPr>
              <a:t>GRC ENGINEERING CLUB</a:t>
            </a:r>
          </a:p>
        </p:txBody>
      </p:sp>
      <p:sp>
        <p:nvSpPr>
          <p:cNvPr id="5" name="TextBox 4"/>
          <p:cNvSpPr txBox="1"/>
          <p:nvPr/>
        </p:nvSpPr>
        <p:spPr>
          <a:xfrm>
            <a:off x="731520" y="2011680"/>
            <a:ext cx="4114800" cy="1828800"/>
          </a:xfrm>
          <a:prstGeom prst="rect">
            <a:avLst/>
          </a:prstGeom>
          <a:noFill/>
        </p:spPr>
        <p:txBody>
          <a:bodyPr wrap="square"/>
          <a:lstStyle/>
          <a:p>
            <a:pPr algn="l"/>
            <a:r>
              <a:rPr sz="4400" b="1">
                <a:solidFill>
                  <a:srgbClr val="FFFFFF"/>
                </a:solidFill>
                <a:latin typeface="Inter"/>
              </a:rPr>
              <a:t>Course Wrap-Up</a:t>
            </a:r>
          </a:p>
        </p:txBody>
      </p:sp>
      <p:sp>
        <p:nvSpPr>
          <p:cNvPr id="6" name="TextBox 5"/>
          <p:cNvSpPr txBox="1"/>
          <p:nvPr/>
        </p:nvSpPr>
        <p:spPr>
          <a:xfrm>
            <a:off x="731520" y="3840480"/>
            <a:ext cx="4114800" cy="914400"/>
          </a:xfrm>
          <a:prstGeom prst="rect">
            <a:avLst/>
          </a:prstGeom>
          <a:noFill/>
        </p:spPr>
        <p:txBody>
          <a:bodyPr wrap="square"/>
          <a:lstStyle/>
          <a:p>
            <a:pPr algn="l"/>
            <a:r>
              <a:rPr sz="1600" b="0">
                <a:solidFill>
                  <a:srgbClr val="A0A0A0"/>
                </a:solidFill>
                <a:latin typeface="Inter"/>
              </a:rPr>
              <a:t>Chapter 7, Lesson 3</a:t>
            </a:r>
          </a:p>
        </p:txBody>
      </p:sp>
      <p:sp>
        <p:nvSpPr>
          <p:cNvPr id="7" name="Rectangle 6"/>
          <p:cNvSpPr/>
          <p:nvPr/>
        </p:nvSpPr>
        <p:spPr>
          <a:xfrm>
            <a:off x="731520" y="5029200"/>
            <a:ext cx="3200400" cy="18288"/>
          </a:xfrm>
          <a:prstGeom prst="rect">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12080"/>
            <a:ext cx="3200400" cy="365760"/>
          </a:xfrm>
          <a:prstGeom prst="rect">
            <a:avLst/>
          </a:prstGeom>
          <a:noFill/>
        </p:spPr>
        <p:txBody>
          <a:bodyPr wrap="square"/>
          <a:lstStyle/>
          <a:p>
            <a:pPr algn="l"/>
            <a:r>
              <a:rPr sz="1300" b="0">
                <a:solidFill>
                  <a:srgbClr val="F5F5F5"/>
                </a:solidFill>
                <a:latin typeface="Inter"/>
              </a:rPr>
              <a:t>AJ Yawn  |  Abdie Mohamed</a:t>
            </a:r>
          </a:p>
        </p:txBody>
      </p:sp>
      <p:sp>
        <p:nvSpPr>
          <p:cNvPr id="9" name="TextBox 8"/>
          <p:cNvSpPr txBox="1"/>
          <p:nvPr/>
        </p:nvSpPr>
        <p:spPr>
          <a:xfrm>
            <a:off x="731520" y="5577840"/>
            <a:ext cx="3200400" cy="365760"/>
          </a:xfrm>
          <a:prstGeom prst="rect">
            <a:avLst/>
          </a:prstGeom>
          <a:noFill/>
        </p:spPr>
        <p:txBody>
          <a:bodyPr wrap="square"/>
          <a:lstStyle/>
          <a:p>
            <a:pPr algn="l"/>
            <a:r>
              <a:rPr sz="1100" b="0">
                <a:solidFill>
                  <a:srgbClr val="A0A0A0"/>
                </a:solidFill>
                <a:latin typeface="Inter"/>
              </a:rPr>
              <a:t>2026</a:t>
            </a:r>
          </a:p>
        </p:txBody>
      </p:sp>
      <p:sp>
        <p:nvSpPr>
          <p:cNvPr id="10" name="TextBox 9"/>
          <p:cNvSpPr txBox="1"/>
          <p:nvPr/>
        </p:nvSpPr>
        <p:spPr>
          <a:xfrm>
            <a:off x="5669280" y="1828800"/>
            <a:ext cx="5943600" cy="3200400"/>
          </a:xfrm>
          <a:prstGeom prst="rect">
            <a:avLst/>
          </a:prstGeom>
          <a:noFill/>
        </p:spPr>
        <p:txBody>
          <a:bodyPr wrap="square"/>
          <a:lstStyle/>
          <a:p>
            <a:pPr algn="l"/>
            <a:r>
              <a:rPr sz="14000" b="1">
                <a:solidFill>
                  <a:srgbClr val="1A1A1A"/>
                </a:solidFill>
                <a:latin typeface="Inter"/>
              </a:rPr>
              <a:t>ENG</a:t>
            </a:r>
          </a:p>
        </p:txBody>
      </p:sp>
      <p:sp>
        <p:nvSpPr>
          <p:cNvPr id="11" name="TextBox 10"/>
          <p:cNvSpPr txBox="1"/>
          <p:nvPr/>
        </p:nvSpPr>
        <p:spPr>
          <a:xfrm>
            <a:off x="5669280" y="5577840"/>
            <a:ext cx="5943600" cy="365760"/>
          </a:xfrm>
          <a:prstGeom prst="rect">
            <a:avLst/>
          </a:prstGeom>
          <a:noFill/>
        </p:spPr>
        <p:txBody>
          <a:bodyPr wrap="square"/>
          <a:lstStyle/>
          <a:p>
            <a:pPr algn="l"/>
            <a:r>
              <a:rPr sz="1200" b="0">
                <a:solidFill>
                  <a:srgbClr val="E8650A"/>
                </a:solidFill>
                <a:latin typeface="Inter"/>
              </a:rPr>
              <a:t>grcengclub.com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COMPLETE</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Course Complete</a:t>
            </a:r>
          </a:p>
        </p:txBody>
      </p:sp>
      <p:sp>
        <p:nvSpPr>
          <p:cNvPr id="4" name="Rectangle 3"/>
          <p:cNvSpPr/>
          <p:nvPr/>
        </p:nvSpPr>
        <p:spPr>
          <a:xfrm>
            <a:off x="731520" y="2011680"/>
            <a:ext cx="9601200" cy="2011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 cy="20116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651760"/>
            <a:ext cx="8686800" cy="914400"/>
          </a:xfrm>
          <a:prstGeom prst="rect">
            <a:avLst/>
          </a:prstGeom>
          <a:noFill/>
        </p:spPr>
        <p:txBody>
          <a:bodyPr wrap="square"/>
          <a:lstStyle/>
          <a:p>
            <a:pPr algn="l"/>
            <a:r>
              <a:rPr sz="3200" b="1">
                <a:solidFill>
                  <a:srgbClr val="FFFFFF"/>
                </a:solidFill>
                <a:latin typeface="Inter"/>
              </a:rPr>
              <a:t>7 Chapters | 3 Pillars | 4 Skills | 1 Portfolio</a:t>
            </a:r>
          </a:p>
        </p:txBody>
      </p:sp>
      <p:sp>
        <p:nvSpPr>
          <p:cNvPr id="7" name="Rectangle 6"/>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9" name="TextBox 8"/>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KEY INSIGHT</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The Fundamental Shift</a:t>
            </a:r>
          </a:p>
        </p:txBody>
      </p:sp>
      <p:sp>
        <p:nvSpPr>
          <p:cNvPr id="4" name="Rectangle 3"/>
          <p:cNvSpPr/>
          <p:nvPr/>
        </p:nvSpPr>
        <p:spPr>
          <a:xfrm>
            <a:off x="731520" y="2103120"/>
            <a:ext cx="9601200" cy="868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8686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331720"/>
            <a:ext cx="8686800" cy="457200"/>
          </a:xfrm>
          <a:prstGeom prst="rect">
            <a:avLst/>
          </a:prstGeom>
          <a:noFill/>
        </p:spPr>
        <p:txBody>
          <a:bodyPr wrap="square"/>
          <a:lstStyle/>
          <a:p>
            <a:pPr algn="l"/>
            <a:r>
              <a:rPr sz="2000" b="1">
                <a:solidFill>
                  <a:srgbClr val="FFFFFF"/>
                </a:solidFill>
                <a:latin typeface="Inter"/>
              </a:rPr>
              <a:t>Documentation as aspiration → Documentation as proof</a:t>
            </a:r>
          </a:p>
        </p:txBody>
      </p:sp>
      <p:sp>
        <p:nvSpPr>
          <p:cNvPr id="7" name="Rectangle 6"/>
          <p:cNvSpPr/>
          <p:nvPr/>
        </p:nvSpPr>
        <p:spPr>
          <a:xfrm>
            <a:off x="731520" y="3154680"/>
            <a:ext cx="9601200" cy="868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154680"/>
            <a:ext cx="54864" cy="8686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383280"/>
            <a:ext cx="8686800" cy="457200"/>
          </a:xfrm>
          <a:prstGeom prst="rect">
            <a:avLst/>
          </a:prstGeom>
          <a:noFill/>
        </p:spPr>
        <p:txBody>
          <a:bodyPr wrap="square"/>
          <a:lstStyle/>
          <a:p>
            <a:pPr algn="l"/>
            <a:r>
              <a:rPr sz="2000" b="1">
                <a:solidFill>
                  <a:srgbClr val="FFFFFF"/>
                </a:solidFill>
                <a:latin typeface="Inter"/>
              </a:rPr>
              <a:t>Writing policies → Writing enforcement</a:t>
            </a:r>
          </a:p>
        </p:txBody>
      </p:sp>
      <p:sp>
        <p:nvSpPr>
          <p:cNvPr id="10" name="Rectangle 9"/>
          <p:cNvSpPr/>
          <p:nvPr/>
        </p:nvSpPr>
        <p:spPr>
          <a:xfrm>
            <a:off x="731520" y="4206240"/>
            <a:ext cx="9601200" cy="8686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206240"/>
            <a:ext cx="54864" cy="868680"/>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434840"/>
            <a:ext cx="8686800" cy="457200"/>
          </a:xfrm>
          <a:prstGeom prst="rect">
            <a:avLst/>
          </a:prstGeom>
          <a:noFill/>
        </p:spPr>
        <p:txBody>
          <a:bodyPr wrap="square"/>
          <a:lstStyle/>
          <a:p>
            <a:pPr algn="l"/>
            <a:r>
              <a:rPr sz="2000" b="1">
                <a:solidFill>
                  <a:srgbClr val="FFFFFF"/>
                </a:solidFill>
                <a:latin typeface="Inter"/>
              </a:rPr>
              <a:t>Hoping for compliance → Engineering compliance</a:t>
            </a:r>
          </a:p>
        </p:txBody>
      </p:sp>
      <p:sp>
        <p:nvSpPr>
          <p:cNvPr id="13" name="Rectangle 12"/>
          <p:cNvSpPr/>
          <p:nvPr/>
        </p:nvSpPr>
        <p:spPr>
          <a:xfrm>
            <a:off x="731520" y="5440680"/>
            <a:ext cx="960120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440680"/>
            <a:ext cx="54864" cy="64008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5577840"/>
            <a:ext cx="8686800" cy="365760"/>
          </a:xfrm>
          <a:prstGeom prst="rect">
            <a:avLst/>
          </a:prstGeom>
          <a:noFill/>
        </p:spPr>
        <p:txBody>
          <a:bodyPr wrap="square"/>
          <a:lstStyle/>
          <a:p>
            <a:pPr algn="l"/>
            <a:r>
              <a:rPr sz="1800" b="1">
                <a:solidFill>
                  <a:srgbClr val="E8650A"/>
                </a:solidFill>
                <a:latin typeface="Inter"/>
              </a:rPr>
              <a:t>'Once you see it, you can't unsee it'</a:t>
            </a:r>
          </a:p>
        </p:txBody>
      </p:sp>
      <p:sp>
        <p:nvSpPr>
          <p:cNvPr id="16" name="Rectangle 15"/>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18" name="TextBox 17"/>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EXAM PREP</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CGE-P Exam Prep</a:t>
            </a:r>
          </a:p>
        </p:txBody>
      </p:sp>
      <p:sp>
        <p:nvSpPr>
          <p:cNvPr id="4" name="Rectangle 3"/>
          <p:cNvSpPr/>
          <p:nvPr/>
        </p:nvSpPr>
        <p:spPr>
          <a:xfrm>
            <a:off x="731520" y="2011680"/>
            <a:ext cx="96012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54864" cy="658368"/>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176272"/>
            <a:ext cx="8686800" cy="365760"/>
          </a:xfrm>
          <a:prstGeom prst="rect">
            <a:avLst/>
          </a:prstGeom>
          <a:noFill/>
        </p:spPr>
        <p:txBody>
          <a:bodyPr wrap="square"/>
          <a:lstStyle/>
          <a:p>
            <a:pPr algn="l"/>
            <a:r>
              <a:rPr sz="1700" b="1">
                <a:solidFill>
                  <a:srgbClr val="FFFFFF"/>
                </a:solidFill>
                <a:latin typeface="Inter"/>
              </a:rPr>
              <a:t>60 questions, 90 minutes, 72% to pass</a:t>
            </a:r>
          </a:p>
        </p:txBody>
      </p:sp>
      <p:sp>
        <p:nvSpPr>
          <p:cNvPr id="7" name="Rectangle 6"/>
          <p:cNvSpPr/>
          <p:nvPr/>
        </p:nvSpPr>
        <p:spPr>
          <a:xfrm>
            <a:off x="731520" y="2761488"/>
            <a:ext cx="96012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761488"/>
            <a:ext cx="54864" cy="658368"/>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926080"/>
            <a:ext cx="8686800" cy="365760"/>
          </a:xfrm>
          <a:prstGeom prst="rect">
            <a:avLst/>
          </a:prstGeom>
          <a:noFill/>
        </p:spPr>
        <p:txBody>
          <a:bodyPr wrap="square"/>
          <a:lstStyle/>
          <a:p>
            <a:pPr algn="l"/>
            <a:r>
              <a:rPr sz="1700" b="1">
                <a:solidFill>
                  <a:srgbClr val="FFFFFF"/>
                </a:solidFill>
                <a:latin typeface="Inter"/>
              </a:rPr>
              <a:t>14-day retake window</a:t>
            </a:r>
          </a:p>
        </p:txBody>
      </p:sp>
      <p:sp>
        <p:nvSpPr>
          <p:cNvPr id="10" name="Rectangle 9"/>
          <p:cNvSpPr/>
          <p:nvPr/>
        </p:nvSpPr>
        <p:spPr>
          <a:xfrm>
            <a:off x="731520" y="3511296"/>
            <a:ext cx="96012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11296"/>
            <a:ext cx="54864" cy="658368"/>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675888"/>
            <a:ext cx="8686800" cy="365760"/>
          </a:xfrm>
          <a:prstGeom prst="rect">
            <a:avLst/>
          </a:prstGeom>
          <a:noFill/>
        </p:spPr>
        <p:txBody>
          <a:bodyPr wrap="square"/>
          <a:lstStyle/>
          <a:p>
            <a:pPr algn="l"/>
            <a:r>
              <a:rPr sz="1700" b="1">
                <a:solidFill>
                  <a:srgbClr val="FFFFFF"/>
                </a:solidFill>
                <a:latin typeface="Inter"/>
              </a:rPr>
              <a:t>Study: Maturity Model, 3 Pillars, Frameworks, Now/Next/Later</a:t>
            </a:r>
          </a:p>
        </p:txBody>
      </p:sp>
      <p:sp>
        <p:nvSpPr>
          <p:cNvPr id="13" name="Rectangle 12"/>
          <p:cNvSpPr/>
          <p:nvPr/>
        </p:nvSpPr>
        <p:spPr>
          <a:xfrm>
            <a:off x="731520" y="4261104"/>
            <a:ext cx="96012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261104"/>
            <a:ext cx="54864" cy="658368"/>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425696"/>
            <a:ext cx="8686800" cy="365760"/>
          </a:xfrm>
          <a:prstGeom prst="rect">
            <a:avLst/>
          </a:prstGeom>
          <a:noFill/>
        </p:spPr>
        <p:txBody>
          <a:bodyPr wrap="square"/>
          <a:lstStyle/>
          <a:p>
            <a:pPr algn="l"/>
            <a:r>
              <a:rPr sz="1700" b="1">
                <a:solidFill>
                  <a:srgbClr val="FFFFFF"/>
                </a:solidFill>
                <a:latin typeface="Inter"/>
              </a:rPr>
              <a:t>Know: Terraform + OPA + CI/CD + OSCAL integration</a:t>
            </a:r>
          </a:p>
        </p:txBody>
      </p:sp>
      <p:sp>
        <p:nvSpPr>
          <p:cNvPr id="16" name="Rectangle 15"/>
          <p:cNvSpPr/>
          <p:nvPr/>
        </p:nvSpPr>
        <p:spPr>
          <a:xfrm>
            <a:off x="731520" y="5010912"/>
            <a:ext cx="960120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010912"/>
            <a:ext cx="54864" cy="658368"/>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175504"/>
            <a:ext cx="8686800" cy="365760"/>
          </a:xfrm>
          <a:prstGeom prst="rect">
            <a:avLst/>
          </a:prstGeom>
          <a:noFill/>
        </p:spPr>
        <p:txBody>
          <a:bodyPr wrap="square"/>
          <a:lstStyle/>
          <a:p>
            <a:pPr algn="l"/>
            <a:r>
              <a:rPr sz="1700" b="1">
                <a:solidFill>
                  <a:srgbClr val="FFFFFF"/>
                </a:solidFill>
                <a:latin typeface="Inter"/>
              </a:rPr>
              <a:t>Scenario questions: Think like a practitioner</a:t>
            </a:r>
          </a:p>
        </p:txBody>
      </p:sp>
      <p:sp>
        <p:nvSpPr>
          <p:cNvPr id="19" name="TextBox 18"/>
          <p:cNvSpPr txBox="1"/>
          <p:nvPr/>
        </p:nvSpPr>
        <p:spPr>
          <a:xfrm>
            <a:off x="731520" y="5897880"/>
            <a:ext cx="9601200" cy="320040"/>
          </a:xfrm>
          <a:prstGeom prst="rect">
            <a:avLst/>
          </a:prstGeom>
          <a:noFill/>
        </p:spPr>
        <p:txBody>
          <a:bodyPr wrap="square"/>
          <a:lstStyle/>
          <a:p>
            <a:pPr algn="l"/>
            <a:r>
              <a:rPr sz="1400" b="0">
                <a:solidFill>
                  <a:srgbClr val="A0A0A0"/>
                </a:solidFill>
                <a:latin typeface="Inter"/>
              </a:rPr>
              <a:t>See: 07_04 Exam Guide for details</a:t>
            </a:r>
          </a:p>
        </p:txBody>
      </p:sp>
      <p:sp>
        <p:nvSpPr>
          <p:cNvPr id="20" name="Rectangle 19"/>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22" name="TextBox 21"/>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D0D"/>
        </a:solidFill>
        <a:effectLst/>
      </p:bgPr>
    </p:bg>
    <p:spTree>
      <p:nvGrpSpPr>
        <p:cNvPr id="1" name=""/>
        <p:cNvGrpSpPr/>
        <p:nvPr/>
      </p:nvGrpSpPr>
      <p:grpSpPr/>
      <p:sp>
        <p:nvSpPr>
          <p:cNvPr id="2" name="TextBox 1"/>
          <p:cNvSpPr txBox="1"/>
          <p:nvPr/>
        </p:nvSpPr>
        <p:spPr>
          <a:xfrm>
            <a:off x="731520" y="548640"/>
            <a:ext cx="3657600" cy="274320"/>
          </a:xfrm>
          <a:prstGeom prst="rect">
            <a:avLst/>
          </a:prstGeom>
          <a:noFill/>
        </p:spPr>
        <p:txBody>
          <a:bodyPr wrap="square"/>
          <a:lstStyle/>
          <a:p>
            <a:pPr algn="l"/>
            <a:r>
              <a:rPr sz="1100" b="1">
                <a:solidFill>
                  <a:srgbClr val="E8650A"/>
                </a:solidFill>
                <a:latin typeface="Inter"/>
              </a:rPr>
              <a:t>NEXT STEPS</a:t>
            </a:r>
          </a:p>
        </p:txBody>
      </p:sp>
      <p:sp>
        <p:nvSpPr>
          <p:cNvPr id="3" name="TextBox 2"/>
          <p:cNvSpPr txBox="1"/>
          <p:nvPr/>
        </p:nvSpPr>
        <p:spPr>
          <a:xfrm>
            <a:off x="731520" y="914400"/>
            <a:ext cx="9144000" cy="914400"/>
          </a:xfrm>
          <a:prstGeom prst="rect">
            <a:avLst/>
          </a:prstGeom>
          <a:noFill/>
        </p:spPr>
        <p:txBody>
          <a:bodyPr wrap="square"/>
          <a:lstStyle/>
          <a:p>
            <a:pPr algn="l"/>
            <a:r>
              <a:rPr sz="3600" b="1">
                <a:solidFill>
                  <a:srgbClr val="FFFFFF"/>
                </a:solidFill>
                <a:latin typeface="Inter"/>
              </a:rPr>
              <a:t>What's Next</a:t>
            </a:r>
          </a:p>
        </p:txBody>
      </p:sp>
      <p:sp>
        <p:nvSpPr>
          <p:cNvPr id="4" name="Rectangle 3"/>
          <p:cNvSpPr/>
          <p:nvPr/>
        </p:nvSpPr>
        <p:spPr>
          <a:xfrm>
            <a:off x="731520" y="2103120"/>
            <a:ext cx="9601200" cy="7132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03120"/>
            <a:ext cx="54864" cy="713232"/>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286000"/>
            <a:ext cx="8686800" cy="365760"/>
          </a:xfrm>
          <a:prstGeom prst="rect">
            <a:avLst/>
          </a:prstGeom>
          <a:noFill/>
        </p:spPr>
        <p:txBody>
          <a:bodyPr wrap="square"/>
          <a:lstStyle/>
          <a:p>
            <a:pPr algn="l"/>
            <a:r>
              <a:rPr sz="1800" b="1">
                <a:solidFill>
                  <a:srgbClr val="FFFFFF"/>
                </a:solidFill>
                <a:latin typeface="Inter"/>
              </a:rPr>
              <a:t>Submit your capstone PR</a:t>
            </a:r>
          </a:p>
        </p:txBody>
      </p:sp>
      <p:sp>
        <p:nvSpPr>
          <p:cNvPr id="7" name="Rectangle 6"/>
          <p:cNvSpPr/>
          <p:nvPr/>
        </p:nvSpPr>
        <p:spPr>
          <a:xfrm>
            <a:off x="731520" y="2971800"/>
            <a:ext cx="9601200" cy="7132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971800"/>
            <a:ext cx="54864" cy="713232"/>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154680"/>
            <a:ext cx="8686800" cy="365760"/>
          </a:xfrm>
          <a:prstGeom prst="rect">
            <a:avLst/>
          </a:prstGeom>
          <a:noFill/>
        </p:spPr>
        <p:txBody>
          <a:bodyPr wrap="square"/>
          <a:lstStyle/>
          <a:p>
            <a:pPr algn="l"/>
            <a:r>
              <a:rPr sz="1800" b="1">
                <a:solidFill>
                  <a:srgbClr val="FFFFFF"/>
                </a:solidFill>
                <a:latin typeface="Inter"/>
              </a:rPr>
              <a:t>Join GRC Engineering Club community</a:t>
            </a:r>
          </a:p>
        </p:txBody>
      </p:sp>
      <p:sp>
        <p:nvSpPr>
          <p:cNvPr id="10" name="Rectangle 9"/>
          <p:cNvSpPr/>
          <p:nvPr/>
        </p:nvSpPr>
        <p:spPr>
          <a:xfrm>
            <a:off x="731520" y="3840480"/>
            <a:ext cx="9601200" cy="7132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40480"/>
            <a:ext cx="54864" cy="713232"/>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23360"/>
            <a:ext cx="8686800" cy="365760"/>
          </a:xfrm>
          <a:prstGeom prst="rect">
            <a:avLst/>
          </a:prstGeom>
          <a:noFill/>
        </p:spPr>
        <p:txBody>
          <a:bodyPr wrap="square"/>
          <a:lstStyle/>
          <a:p>
            <a:pPr algn="l"/>
            <a:r>
              <a:rPr sz="1800" b="1">
                <a:solidFill>
                  <a:srgbClr val="FFFFFF"/>
                </a:solidFill>
                <a:latin typeface="Inter"/>
              </a:rPr>
              <a:t>Practice at work -- start with Level 1→2</a:t>
            </a:r>
          </a:p>
        </p:txBody>
      </p:sp>
      <p:sp>
        <p:nvSpPr>
          <p:cNvPr id="13" name="Rectangle 12"/>
          <p:cNvSpPr/>
          <p:nvPr/>
        </p:nvSpPr>
        <p:spPr>
          <a:xfrm>
            <a:off x="731520" y="4709160"/>
            <a:ext cx="9601200" cy="71323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709160"/>
            <a:ext cx="54864" cy="713232"/>
          </a:xfrm>
          <a:prstGeom prst="rect">
            <a:avLst/>
          </a:prstGeom>
          <a:solidFill>
            <a:srgbClr val="E865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892040"/>
            <a:ext cx="8686800" cy="365760"/>
          </a:xfrm>
          <a:prstGeom prst="rect">
            <a:avLst/>
          </a:prstGeom>
          <a:noFill/>
        </p:spPr>
        <p:txBody>
          <a:bodyPr wrap="square"/>
          <a:lstStyle/>
          <a:p>
            <a:pPr algn="l"/>
            <a:r>
              <a:rPr sz="1800" b="1">
                <a:solidFill>
                  <a:srgbClr val="FFFFFF"/>
                </a:solidFill>
                <a:latin typeface="Inter"/>
              </a:rPr>
              <a:t>Shape the discipline</a:t>
            </a:r>
          </a:p>
        </p:txBody>
      </p:sp>
      <p:sp>
        <p:nvSpPr>
          <p:cNvPr id="16" name="TextBox 15"/>
          <p:cNvSpPr txBox="1"/>
          <p:nvPr/>
        </p:nvSpPr>
        <p:spPr>
          <a:xfrm>
            <a:off x="731520" y="5669280"/>
            <a:ext cx="9601200" cy="320040"/>
          </a:xfrm>
          <a:prstGeom prst="rect">
            <a:avLst/>
          </a:prstGeom>
          <a:noFill/>
        </p:spPr>
        <p:txBody>
          <a:bodyPr wrap="square"/>
          <a:lstStyle/>
          <a:p>
            <a:pPr algn="l"/>
            <a:r>
              <a:rPr sz="1600" b="1">
                <a:solidFill>
                  <a:srgbClr val="E8650A"/>
                </a:solidFill>
                <a:latin typeface="Inter"/>
              </a:rPr>
              <a:t>grcengineeringclub.com</a:t>
            </a:r>
          </a:p>
        </p:txBody>
      </p:sp>
      <p:sp>
        <p:nvSpPr>
          <p:cNvPr id="17" name="Rectangle 16"/>
          <p:cNvSpPr/>
          <p:nvPr/>
        </p:nvSpPr>
        <p:spPr>
          <a:xfrm>
            <a:off x="731520" y="6126480"/>
            <a:ext cx="9601200" cy="6400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6126480"/>
            <a:ext cx="54864" cy="640080"/>
          </a:xfrm>
          <a:prstGeom prst="rect">
            <a:avLst/>
          </a:prstGeom>
          <a:solidFill>
            <a:srgbClr val="308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6263640"/>
            <a:ext cx="8686800" cy="365760"/>
          </a:xfrm>
          <a:prstGeom prst="rect">
            <a:avLst/>
          </a:prstGeom>
          <a:noFill/>
        </p:spPr>
        <p:txBody>
          <a:bodyPr wrap="square"/>
          <a:lstStyle/>
          <a:p>
            <a:pPr algn="l"/>
            <a:r>
              <a:rPr sz="2000" b="1">
                <a:solidFill>
                  <a:srgbClr val="FFFFFF"/>
                </a:solidFill>
                <a:latin typeface="Inter"/>
              </a:rPr>
              <a:t>Thanks for building with us.</a:t>
            </a:r>
          </a:p>
        </p:txBody>
      </p:sp>
      <p:sp>
        <p:nvSpPr>
          <p:cNvPr id="20" name="Rectangle 19"/>
          <p:cNvSpPr/>
          <p:nvPr/>
        </p:nvSpPr>
        <p:spPr>
          <a:xfrm>
            <a:off x="0" y="6492240"/>
            <a:ext cx="12192000" cy="365760"/>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537960"/>
            <a:ext cx="5486400" cy="274320"/>
          </a:xfrm>
          <a:prstGeom prst="rect">
            <a:avLst/>
          </a:prstGeom>
          <a:noFill/>
        </p:spPr>
        <p:txBody>
          <a:bodyPr wrap="square"/>
          <a:lstStyle/>
          <a:p>
            <a:pPr algn="l"/>
            <a:r>
              <a:rPr sz="900" b="0">
                <a:solidFill>
                  <a:srgbClr val="A0A0A0"/>
                </a:solidFill>
                <a:latin typeface="Inter"/>
              </a:rPr>
              <a:t>GRC Engineering Club  |  grcengclub.com</a:t>
            </a:r>
          </a:p>
        </p:txBody>
      </p:sp>
      <p:sp>
        <p:nvSpPr>
          <p:cNvPr id="22" name="TextBox 21"/>
          <p:cNvSpPr txBox="1"/>
          <p:nvPr/>
        </p:nvSpPr>
        <p:spPr>
          <a:xfrm>
            <a:off x="8229600" y="6537960"/>
            <a:ext cx="2743200" cy="274320"/>
          </a:xfrm>
          <a:prstGeom prst="rect">
            <a:avLst/>
          </a:prstGeom>
          <a:noFill/>
        </p:spPr>
        <p:txBody>
          <a:bodyPr wrap="square"/>
          <a:lstStyle/>
          <a:p>
            <a:pPr algn="r"/>
            <a:r>
              <a:rPr sz="1000" b="0">
                <a:solidFill>
                  <a:srgbClr val="A0A0A0"/>
                </a:solidFill>
                <a:latin typeface="Inter"/>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