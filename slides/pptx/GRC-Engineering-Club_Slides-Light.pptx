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" id="{7c6a23ff-b746-2d41-012e-fc91cdd0aa07}">
          <p14:sldIdLst>
            <p14:sldId id="256"/>
          </p14:sldIdLst>
        </p14:section>
        <p14:section name="Chapter 01" id="{5236912c-549b-dd0c-530d-151838c5056f}">
          <p14:sldIdLst>
            <p14:sldId id="257"/>
            <p14:sldId id="258"/>
            <p14:sldId id="259"/>
          </p14:sldIdLst>
        </p14:section>
        <p14:section name="Proof" id="{2b4d9f29-b4af-5328-8e8e-6150f3eb9ed1}">
          <p14:sldIdLst>
            <p14:sldId id="260"/>
            <p14:sldId id="261"/>
          </p14:sldIdLst>
        </p14:section>
        <p14:section name="Certification" id="{b8719f18-7a2f-7f6a-d8a7-15d7fb693403}">
          <p14:sldIdLst>
            <p14:sldId id="262"/>
            <p14:sldId id="263"/>
          </p14:sldIdLst>
        </p14:section>
        <p14:section name="Policy as Code" id="{40e2fd6a-75b3-9c9c-2ab9-0ab019ff2b7a}">
          <p14:sldIdLst>
            <p14:sldId id="264"/>
            <p14:sldId id="265"/>
          </p14:sldIdLst>
        </p14:section>
        <p14:section name="Framework" id="{bfe09451-4e4f-6fee-1dda-2e4e46f88583}">
          <p14:sldIdLst>
            <p14:sldId id="266"/>
          </p14:sldIdLst>
        </p14:section>
        <p14:section name="Close" id="{fbdefdc5-e935-5416-4f31-a6d8c9bdbc60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layout. Swap the eyebrow, title, subtitle and the three meta columns. The controls panel is the deck's product moment; keep it or replace it with one real object from your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jpe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jpe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j.yawn/Desktop/Code/repos/grcengclub/grcengclub/.claude/worktrees/clubs-academy-update-b7a988/.claude/skills/grc-engineering-club-design/assets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402336" cy="40233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54864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GRC Engineering Club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1828800"/>
            <a:ext cx="62179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Eyebrow</a:t>
            </a:r>
            <a:endParaRPr lang="en-US" sz="11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640080" y="2194560"/>
            <a:ext cx="621792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95000"/>
              </a:lnSpc>
              <a:buNone/>
              <a:defRPr lang="en-US" sz="5400" spc="-200" kern="0" dirty="0">
                <a:solidFill>
                  <a:schemeClr val="tx1"/>
                </a:solidFill>
              </a:defRPr>
            </a:lvl1pPr>
          </a:lstStyle>
          <a:p>
            <a:pPr indent="0" marL="0">
              <a:lnSpc>
                <a:spcPct val="95000"/>
              </a:lnSpc>
              <a:buNone/>
            </a:pPr>
            <a:r>
              <a:rPr lang="en-US" sz="5400" spc="-200" kern="0" dirty="0">
                <a:solidFill>
                  <a:schemeClr val="tx1"/>
                </a:solidFill>
              </a:rPr>
              <a:t>Deck title</a:t>
            </a:r>
            <a:endParaRPr lang="en-US" sz="54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640080" y="4297680"/>
            <a:ext cx="5852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Subtitle</a:t>
            </a:r>
            <a:endParaRPr lang="en-US" sz="1800" dirty="0"/>
          </a:p>
        </p:txBody>
      </p:sp>
      <p:sp>
        <p:nvSpPr>
          <p:cNvPr id="7" name="Text 1"/>
          <p:cNvSpPr/>
          <p:nvPr/>
        </p:nvSpPr>
        <p:spPr>
          <a:xfrm>
            <a:off x="8808415" y="6263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grcengclub.com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LIGHT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914400"/>
            <a:ext cx="64008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0" spc="-6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en-US" sz="15000" spc="-600" kern="0" dirty="0">
                <a:solidFill>
                  <a:schemeClr val="accent1"/>
                </a:solidFill>
              </a:rPr>
              <a:t>01</a:t>
            </a:r>
            <a:endParaRPr lang="en-US" sz="1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0632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Eyebrow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40080" y="342900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5400" spc="-200" kern="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5400" spc="-200" kern="0" dirty="0">
                <a:solidFill>
                  <a:schemeClr val="tx1"/>
                </a:solidFill>
              </a:rPr>
              <a:t>Section title</a:t>
            </a:r>
            <a:endParaRPr lang="en-US" sz="5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40080" y="4709160"/>
            <a:ext cx="9601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Section summary</a:t>
            </a:r>
            <a:endParaRPr lang="en-US" sz="1800" dirty="0"/>
          </a:p>
        </p:txBody>
      </p:sp>
      <p:pic>
        <p:nvPicPr>
          <p:cNvPr id="6" name="Image 0" descr="/Users/aj.yawn/Desktop/Code/repos/grcengclub/grcengclub/.claude/worktrees/clubs-academy-update-b7a988/.claude/skills/grc-engineering-club-design/assets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55080"/>
            <a:ext cx="237744" cy="237744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969264" y="63550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GRC Engineering Club   /   grcengclub.com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3737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Eyebrow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spc="-100" kern="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3600" spc="-100" kern="0" dirty="0">
                <a:solidFill>
                  <a:schemeClr val="tx1"/>
                </a:solidFill>
              </a:rPr>
              <a:t>Slide title</a:t>
            </a:r>
            <a:endParaRPr lang="en-US" sz="3600" dirty="0"/>
          </a:p>
        </p:txBody>
      </p:sp>
      <p:pic>
        <p:nvPicPr>
          <p:cNvPr id="4" name="Image 0" descr="/Users/aj.yawn/Desktop/Code/repos/grcengclub/grcengclub/.claude/worktrees/clubs-academy-update-b7a988/.claude/skills/grc-engineering-club-design/assets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55080"/>
            <a:ext cx="237744" cy="23774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969264" y="63550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GRC Engineering Club   /   grcengclub.com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3737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ALT_LIGHT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Eyebrow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spc="-100" kern="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3600" spc="-100" kern="0" dirty="0">
                <a:solidFill>
                  <a:schemeClr val="tx1"/>
                </a:solidFill>
              </a:rPr>
              <a:t>Slide title</a:t>
            </a:r>
            <a:endParaRPr lang="en-US" sz="3600" dirty="0"/>
          </a:p>
        </p:txBody>
      </p:sp>
      <p:pic>
        <p:nvPicPr>
          <p:cNvPr id="4" name="Image 0" descr="/Users/aj.yawn/Desktop/Code/repos/grcengclub/grcengclub/.claude/worktrees/clubs-academy-update-b7a988/.claude/skills/grc-engineering-club-design/assets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55080"/>
            <a:ext cx="237744" cy="23774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969264" y="63550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GRC Engineering Club   /   grcengclub.com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3737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R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j.yawn/Desktop/Code/repos/grcengclub/grcengclub/.claude/worktrees/clubs-academy-update-b7a988/.claude/skills/grc-engineering-club-design/assets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402336" cy="40233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54864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GRC Engineering Club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1691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Eyebrow</a:t>
            </a:r>
            <a:endParaRPr lang="en-US" sz="11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640080" y="2057400"/>
            <a:ext cx="1078992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95000"/>
              </a:lnSpc>
              <a:buNone/>
              <a:defRPr lang="en-US" sz="6000" spc="-200" kern="0" dirty="0">
                <a:solidFill>
                  <a:schemeClr val="tx1"/>
                </a:solidFill>
              </a:defRPr>
            </a:lvl1pPr>
          </a:lstStyle>
          <a:p>
            <a:pPr indent="0" marL="0">
              <a:lnSpc>
                <a:spcPct val="95000"/>
              </a:lnSpc>
              <a:buNone/>
            </a:pPr>
            <a:r>
              <a:rPr lang="en-US" sz="6000" spc="-200" kern="0" dirty="0">
                <a:solidFill>
                  <a:schemeClr val="tx1"/>
                </a:solidFill>
              </a:rPr>
              <a:t>Closing line</a:t>
            </a:r>
            <a:endParaRPr lang="en-US" sz="60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640080" y="425196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Supporting line</a:t>
            </a:r>
            <a:endParaRPr lang="en-US" sz="1800" dirty="0"/>
          </a:p>
        </p:txBody>
      </p:sp>
      <p:sp>
        <p:nvSpPr>
          <p:cNvPr id="7" name="Text 1"/>
          <p:cNvSpPr/>
          <p:nvPr/>
        </p:nvSpPr>
        <p:spPr>
          <a:xfrm>
            <a:off x="64008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checkbox GRC to engineered systems  ·  © 2026 GRC Engineering Club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3737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40080" y="18288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Certified GRC Engineer, Practitioner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40080" y="2194560"/>
            <a:ext cx="6217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400" spc="-200" kern="0" dirty="0">
                <a:solidFill>
                  <a:schemeClr val="tx1"/>
                </a:solidFill>
              </a:rPr>
              <a:t>Welcome to</a:t>
            </a:r>
            <a:endParaRPr lang="en-US" sz="5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400" spc="-200" kern="0" dirty="0">
                <a:solidFill>
                  <a:schemeClr val="tx1"/>
                </a:solidFill>
              </a:rPr>
              <a:t>the course</a:t>
            </a:r>
            <a:endParaRPr lang="en-US" sz="5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640080" y="42976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From checkbox GRC to engineered systems. Build the skills, ship the proof, earn the cert.</a:t>
            </a:r>
            <a:endParaRPr lang="en-US" sz="1800" dirty="0"/>
          </a:p>
        </p:txBody>
      </p:sp>
      <p:sp>
        <p:nvSpPr>
          <p:cNvPr id="5" name="Controls panel"/>
          <p:cNvSpPr/>
          <p:nvPr/>
        </p:nvSpPr>
        <p:spPr>
          <a:xfrm>
            <a:off x="7406640" y="2011680"/>
            <a:ext cx="4144975" cy="265176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Panel header rule"/>
          <p:cNvSpPr/>
          <p:nvPr/>
        </p:nvSpPr>
        <p:spPr>
          <a:xfrm>
            <a:off x="7406640" y="2395728"/>
            <a:ext cx="414497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7" name="Window dot 1"/>
          <p:cNvSpPr/>
          <p:nvPr/>
        </p:nvSpPr>
        <p:spPr>
          <a:xfrm>
            <a:off x="7607808" y="2167128"/>
            <a:ext cx="73152" cy="73152"/>
          </a:xfrm>
          <a:prstGeom prst="ellipse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8" name="Window dot 2"/>
          <p:cNvSpPr/>
          <p:nvPr/>
        </p:nvSpPr>
        <p:spPr>
          <a:xfrm>
            <a:off x="7717536" y="2167128"/>
            <a:ext cx="73152" cy="73152"/>
          </a:xfrm>
          <a:prstGeom prst="ellipse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" name="Window dot 3"/>
          <p:cNvSpPr/>
          <p:nvPr/>
        </p:nvSpPr>
        <p:spPr>
          <a:xfrm>
            <a:off x="7827264" y="2167128"/>
            <a:ext cx="73152" cy="73152"/>
          </a:xfrm>
          <a:prstGeom prst="ellipse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Panel title"/>
          <p:cNvSpPr txBox="1"/>
          <p:nvPr/>
        </p:nvSpPr>
        <p:spPr>
          <a:xfrm>
            <a:off x="8046720" y="20116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compliance-pipeline · run 412 · main</a:t>
            </a:r>
            <a:endParaRPr lang="en-US" sz="900" dirty="0"/>
          </a:p>
        </p:txBody>
      </p:sp>
      <p:sp>
        <p:nvSpPr>
          <p:cNvPr id="11" name="Stage dot"/>
          <p:cNvSpPr/>
          <p:nvPr/>
        </p:nvSpPr>
        <p:spPr>
          <a:xfrm>
            <a:off x="10463479" y="2167128"/>
            <a:ext cx="73152" cy="73152"/>
          </a:xfrm>
          <a:prstGeom prst="ellipse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12" name="Panel stage"/>
          <p:cNvSpPr txBox="1"/>
          <p:nvPr/>
        </p:nvSpPr>
        <p:spPr>
          <a:xfrm>
            <a:off x="10591495" y="20116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 stage</a:t>
            </a:r>
            <a:endParaRPr lang="en-US" sz="900" dirty="0"/>
          </a:p>
        </p:txBody>
      </p:sp>
      <p:sp>
        <p:nvSpPr>
          <p:cNvPr id="13" name="Column 1"/>
          <p:cNvSpPr txBox="1"/>
          <p:nvPr/>
        </p:nvSpPr>
        <p:spPr>
          <a:xfrm>
            <a:off x="758952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</a:t>
            </a:r>
            <a:endParaRPr lang="en-US" sz="800" dirty="0"/>
          </a:p>
        </p:txBody>
      </p:sp>
      <p:sp>
        <p:nvSpPr>
          <p:cNvPr id="14" name="Column 2"/>
          <p:cNvSpPr txBox="1"/>
          <p:nvPr/>
        </p:nvSpPr>
        <p:spPr>
          <a:xfrm>
            <a:off x="832104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checks</a:t>
            </a:r>
            <a:endParaRPr lang="en-US" sz="800" dirty="0"/>
          </a:p>
        </p:txBody>
      </p:sp>
      <p:sp>
        <p:nvSpPr>
          <p:cNvPr id="15" name="Column 3"/>
          <p:cNvSpPr txBox="1"/>
          <p:nvPr/>
        </p:nvSpPr>
        <p:spPr>
          <a:xfrm>
            <a:off x="10545775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800" dirty="0"/>
          </a:p>
        </p:txBody>
      </p:sp>
      <p:sp>
        <p:nvSpPr>
          <p:cNvPr id="16" name="Column rule"/>
          <p:cNvSpPr/>
          <p:nvPr/>
        </p:nvSpPr>
        <p:spPr>
          <a:xfrm>
            <a:off x="7589520" y="2743200"/>
            <a:ext cx="37792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7" name="Control AC-2 chip"/>
          <p:cNvSpPr/>
          <p:nvPr/>
        </p:nvSpPr>
        <p:spPr>
          <a:xfrm>
            <a:off x="7589520" y="2816352"/>
            <a:ext cx="493776" cy="219456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Control AC-2"/>
          <p:cNvSpPr txBox="1"/>
          <p:nvPr/>
        </p:nvSpPr>
        <p:spPr>
          <a:xfrm>
            <a:off x="7589520" y="281635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AC-2</a:t>
            </a:r>
            <a:endParaRPr lang="en-US" sz="1000" dirty="0"/>
          </a:p>
        </p:txBody>
      </p:sp>
      <p:sp>
        <p:nvSpPr>
          <p:cNvPr id="19" name="Check 1"/>
          <p:cNvSpPr txBox="1"/>
          <p:nvPr/>
        </p:nvSpPr>
        <p:spPr>
          <a:xfrm>
            <a:off x="8321040" y="2743200"/>
            <a:ext cx="2133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No orphaned IAM users</a:t>
            </a:r>
            <a:endParaRPr lang="en-US" sz="1000" dirty="0"/>
          </a:p>
        </p:txBody>
      </p:sp>
      <p:sp>
        <p:nvSpPr>
          <p:cNvPr id="20" name="Status dot 1"/>
          <p:cNvSpPr/>
          <p:nvPr/>
        </p:nvSpPr>
        <p:spPr>
          <a:xfrm>
            <a:off x="10545775" y="2889504"/>
            <a:ext cx="73152" cy="73152"/>
          </a:xfrm>
          <a:prstGeom prst="ellipse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21" name="Status 1"/>
          <p:cNvSpPr txBox="1"/>
          <p:nvPr/>
        </p:nvSpPr>
        <p:spPr>
          <a:xfrm>
            <a:off x="10673791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800" dirty="0"/>
          </a:p>
        </p:txBody>
      </p:sp>
      <p:sp>
        <p:nvSpPr>
          <p:cNvPr id="22" name="Row rule 1"/>
          <p:cNvSpPr/>
          <p:nvPr/>
        </p:nvSpPr>
        <p:spPr>
          <a:xfrm>
            <a:off x="7589520" y="3108960"/>
            <a:ext cx="37792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3" name="Control CM-6 chip"/>
          <p:cNvSpPr/>
          <p:nvPr/>
        </p:nvSpPr>
        <p:spPr>
          <a:xfrm>
            <a:off x="7589520" y="3182112"/>
            <a:ext cx="493776" cy="219456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Control CM-6"/>
          <p:cNvSpPr txBox="1"/>
          <p:nvPr/>
        </p:nvSpPr>
        <p:spPr>
          <a:xfrm>
            <a:off x="7589520" y="318211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CM-6</a:t>
            </a:r>
            <a:endParaRPr lang="en-US" sz="1000" dirty="0"/>
          </a:p>
        </p:txBody>
      </p:sp>
      <p:sp>
        <p:nvSpPr>
          <p:cNvPr id="25" name="Check 2"/>
          <p:cNvSpPr txBox="1"/>
          <p:nvPr/>
        </p:nvSpPr>
        <p:spPr>
          <a:xfrm>
            <a:off x="8321040" y="3108960"/>
            <a:ext cx="2133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Baseline tags on every resource</a:t>
            </a:r>
            <a:endParaRPr lang="en-US" sz="1000" dirty="0"/>
          </a:p>
        </p:txBody>
      </p:sp>
      <p:sp>
        <p:nvSpPr>
          <p:cNvPr id="26" name="Status dot 2"/>
          <p:cNvSpPr/>
          <p:nvPr/>
        </p:nvSpPr>
        <p:spPr>
          <a:xfrm>
            <a:off x="10545775" y="3255264"/>
            <a:ext cx="73152" cy="73152"/>
          </a:xfrm>
          <a:prstGeom prst="ellipse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27" name="Status 2"/>
          <p:cNvSpPr txBox="1"/>
          <p:nvPr/>
        </p:nvSpPr>
        <p:spPr>
          <a:xfrm>
            <a:off x="10673791" y="3108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800" dirty="0"/>
          </a:p>
        </p:txBody>
      </p:sp>
      <p:sp>
        <p:nvSpPr>
          <p:cNvPr id="28" name="Row rule 2"/>
          <p:cNvSpPr/>
          <p:nvPr/>
        </p:nvSpPr>
        <p:spPr>
          <a:xfrm>
            <a:off x="7589520" y="3474720"/>
            <a:ext cx="37792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9" name="Control SC-7 chip"/>
          <p:cNvSpPr/>
          <p:nvPr/>
        </p:nvSpPr>
        <p:spPr>
          <a:xfrm>
            <a:off x="7589520" y="3547872"/>
            <a:ext cx="493776" cy="219456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Control SC-7"/>
          <p:cNvSpPr txBox="1"/>
          <p:nvPr/>
        </p:nvSpPr>
        <p:spPr>
          <a:xfrm>
            <a:off x="7589520" y="354787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SC-7</a:t>
            </a:r>
            <a:endParaRPr lang="en-US" sz="1000" dirty="0"/>
          </a:p>
        </p:txBody>
      </p:sp>
      <p:sp>
        <p:nvSpPr>
          <p:cNvPr id="31" name="Check 3"/>
          <p:cNvSpPr txBox="1"/>
          <p:nvPr/>
        </p:nvSpPr>
        <p:spPr>
          <a:xfrm>
            <a:off x="8321040" y="3474720"/>
            <a:ext cx="2133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No public ingress on 0.0.0.0/0</a:t>
            </a:r>
            <a:endParaRPr lang="en-US" sz="1000" dirty="0"/>
          </a:p>
        </p:txBody>
      </p:sp>
      <p:sp>
        <p:nvSpPr>
          <p:cNvPr id="32" name="Status dot 3"/>
          <p:cNvSpPr/>
          <p:nvPr/>
        </p:nvSpPr>
        <p:spPr>
          <a:xfrm>
            <a:off x="10545775" y="3621024"/>
            <a:ext cx="73152" cy="73152"/>
          </a:xfrm>
          <a:prstGeom prst="ellipse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33" name="Status 3"/>
          <p:cNvSpPr txBox="1"/>
          <p:nvPr/>
        </p:nvSpPr>
        <p:spPr>
          <a:xfrm>
            <a:off x="10673791" y="34747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800" dirty="0"/>
          </a:p>
        </p:txBody>
      </p:sp>
      <p:sp>
        <p:nvSpPr>
          <p:cNvPr id="34" name="Row rule 3"/>
          <p:cNvSpPr/>
          <p:nvPr/>
        </p:nvSpPr>
        <p:spPr>
          <a:xfrm>
            <a:off x="7589520" y="3840480"/>
            <a:ext cx="37792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5" name="Control SC-28 chip"/>
          <p:cNvSpPr/>
          <p:nvPr/>
        </p:nvSpPr>
        <p:spPr>
          <a:xfrm>
            <a:off x="7589520" y="3913632"/>
            <a:ext cx="571500" cy="219456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6" name="Control SC-28"/>
          <p:cNvSpPr txBox="1"/>
          <p:nvPr/>
        </p:nvSpPr>
        <p:spPr>
          <a:xfrm>
            <a:off x="7589520" y="3913632"/>
            <a:ext cx="571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SC-28</a:t>
            </a:r>
            <a:endParaRPr lang="en-US" sz="1000" dirty="0"/>
          </a:p>
        </p:txBody>
      </p:sp>
      <p:sp>
        <p:nvSpPr>
          <p:cNvPr id="37" name="Check 4"/>
          <p:cNvSpPr txBox="1"/>
          <p:nvPr/>
        </p:nvSpPr>
        <p:spPr>
          <a:xfrm>
            <a:off x="8321040" y="3840480"/>
            <a:ext cx="2133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S3 buckets encrypted at rest</a:t>
            </a:r>
            <a:endParaRPr lang="en-US" sz="1000" dirty="0"/>
          </a:p>
        </p:txBody>
      </p:sp>
      <p:sp>
        <p:nvSpPr>
          <p:cNvPr id="38" name="Status dot 4"/>
          <p:cNvSpPr/>
          <p:nvPr/>
        </p:nvSpPr>
        <p:spPr>
          <a:xfrm>
            <a:off x="10545775" y="3986784"/>
            <a:ext cx="73152" cy="73152"/>
          </a:xfrm>
          <a:prstGeom prst="ellipse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39" name="Status 4"/>
          <p:cNvSpPr txBox="1"/>
          <p:nvPr/>
        </p:nvSpPr>
        <p:spPr>
          <a:xfrm>
            <a:off x="10673791" y="3840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800" dirty="0"/>
          </a:p>
        </p:txBody>
      </p:sp>
      <p:sp>
        <p:nvSpPr>
          <p:cNvPr id="40" name="Row rule 4"/>
          <p:cNvSpPr/>
          <p:nvPr/>
        </p:nvSpPr>
        <p:spPr>
          <a:xfrm>
            <a:off x="7589520" y="4206240"/>
            <a:ext cx="37792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1" name="Control SI-4 chip"/>
          <p:cNvSpPr/>
          <p:nvPr/>
        </p:nvSpPr>
        <p:spPr>
          <a:xfrm>
            <a:off x="7589520" y="4279392"/>
            <a:ext cx="493776" cy="219456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2" name="Control SI-4"/>
          <p:cNvSpPr txBox="1"/>
          <p:nvPr/>
        </p:nvSpPr>
        <p:spPr>
          <a:xfrm>
            <a:off x="7589520" y="427939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SI-4</a:t>
            </a:r>
            <a:endParaRPr lang="en-US" sz="1000" dirty="0"/>
          </a:p>
        </p:txBody>
      </p:sp>
      <p:sp>
        <p:nvSpPr>
          <p:cNvPr id="43" name="Check 5"/>
          <p:cNvSpPr txBox="1"/>
          <p:nvPr/>
        </p:nvSpPr>
        <p:spPr>
          <a:xfrm>
            <a:off x="8321040" y="4206240"/>
            <a:ext cx="2133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GuardDuty findings triaged</a:t>
            </a:r>
            <a:endParaRPr lang="en-US" sz="1000" dirty="0"/>
          </a:p>
        </p:txBody>
      </p:sp>
      <p:sp>
        <p:nvSpPr>
          <p:cNvPr id="44" name="Status dot 5"/>
          <p:cNvSpPr/>
          <p:nvPr/>
        </p:nvSpPr>
        <p:spPr>
          <a:xfrm>
            <a:off x="10545775" y="4352544"/>
            <a:ext cx="73152" cy="73152"/>
          </a:xfrm>
          <a:prstGeom prst="ellipse">
            <a:avLst/>
          </a:prstGeom>
          <a:solidFill>
            <a:srgbClr val="E8650A"/>
          </a:solidFill>
          <a:ln w="12700">
            <a:solidFill>
              <a:srgbClr val="E8650A"/>
            </a:solidFill>
            <a:prstDash val="solid"/>
          </a:ln>
        </p:spPr>
      </p:sp>
      <p:sp>
        <p:nvSpPr>
          <p:cNvPr id="45" name="Status 5"/>
          <p:cNvSpPr txBox="1"/>
          <p:nvPr/>
        </p:nvSpPr>
        <p:spPr>
          <a:xfrm>
            <a:off x="10673791" y="42062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collecting</a:t>
            </a:r>
            <a:endParaRPr lang="en-US" sz="800" dirty="0"/>
          </a:p>
        </p:txBody>
      </p:sp>
      <p:sp>
        <p:nvSpPr>
          <p:cNvPr id="46" name="Meta label 1"/>
          <p:cNvSpPr txBox="1"/>
          <p:nvPr/>
        </p:nvSpPr>
        <p:spPr>
          <a:xfrm>
            <a:off x="640080" y="55321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Instructors</a:t>
            </a:r>
            <a:endParaRPr lang="en-US" sz="900" dirty="0"/>
          </a:p>
        </p:txBody>
      </p:sp>
      <p:sp>
        <p:nvSpPr>
          <p:cNvPr id="47" name="Meta value 1"/>
          <p:cNvSpPr txBox="1"/>
          <p:nvPr/>
        </p:nvSpPr>
        <p:spPr>
          <a:xfrm>
            <a:off x="640080" y="5760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AJ Yawn · Abdie Mohamed</a:t>
            </a:r>
            <a:endParaRPr lang="en-US" sz="1400" dirty="0"/>
          </a:p>
        </p:txBody>
      </p:sp>
      <p:sp>
        <p:nvSpPr>
          <p:cNvPr id="48" name="Meta label 2"/>
          <p:cNvSpPr txBox="1"/>
          <p:nvPr/>
        </p:nvSpPr>
        <p:spPr>
          <a:xfrm>
            <a:off x="3291840" y="55321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Cohort</a:t>
            </a:r>
            <a:endParaRPr lang="en-US" sz="900" dirty="0"/>
          </a:p>
        </p:txBody>
      </p:sp>
      <p:sp>
        <p:nvSpPr>
          <p:cNvPr id="49" name="Meta value 2"/>
          <p:cNvSpPr txBox="1"/>
          <p:nvPr/>
        </p:nvSpPr>
        <p:spPr>
          <a:xfrm>
            <a:off x="3291840" y="5760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2026</a:t>
            </a:r>
            <a:endParaRPr lang="en-US" sz="1400" dirty="0"/>
          </a:p>
        </p:txBody>
      </p:sp>
      <p:sp>
        <p:nvSpPr>
          <p:cNvPr id="50" name="Meta label 3"/>
          <p:cNvSpPr txBox="1"/>
          <p:nvPr/>
        </p:nvSpPr>
        <p:spPr>
          <a:xfrm>
            <a:off x="5943600" y="55321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Credential</a:t>
            </a:r>
            <a:endParaRPr lang="en-US" sz="900" dirty="0"/>
          </a:p>
        </p:txBody>
      </p:sp>
      <p:sp>
        <p:nvSpPr>
          <p:cNvPr id="51" name="Meta value 3"/>
          <p:cNvSpPr txBox="1"/>
          <p:nvPr/>
        </p:nvSpPr>
        <p:spPr>
          <a:xfrm>
            <a:off x="5943600" y="5760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CGE-P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91440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spc="-600" kern="0" dirty="0">
                <a:solidFill>
                  <a:schemeClr val="accent1"/>
                </a:solidFill>
              </a:rPr>
              <a:t>01</a:t>
            </a:r>
            <a:endParaRPr lang="en-US" sz="1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063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 1 of 7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40080" y="34290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spc="-200" kern="0" dirty="0">
                <a:solidFill>
                  <a:schemeClr val="tx1"/>
                </a:solidFill>
              </a:rPr>
              <a:t>Foundations</a:t>
            </a:r>
            <a:endParaRPr lang="en-US" sz="5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40080" y="47091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Core GRC engineering concepts and the maturity model that separates teams doing the work from teams running audits.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3737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-100" kern="0" dirty="0">
                <a:solidFill>
                  <a:schemeClr val="tx1"/>
                </a:solidFill>
              </a:rPr>
              <a:t>Traditional GRC breaks in three predictable ways</a:t>
            </a:r>
            <a:endParaRPr lang="en-US" sz="3600" dirty="0"/>
          </a:p>
        </p:txBody>
      </p:sp>
      <p:sp>
        <p:nvSpPr>
          <p:cNvPr id="4" name="Lede"/>
          <p:cNvSpPr txBox="1"/>
          <p:nvPr/>
        </p:nvSpPr>
        <p:spPr>
          <a:xfrm>
            <a:off x="640080" y="1600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Every one of them is solved with engineering, not process.</a:t>
            </a:r>
            <a:endParaRPr lang="en-US" sz="1500" dirty="0"/>
          </a:p>
        </p:txBody>
      </p:sp>
      <p:sp>
        <p:nvSpPr>
          <p:cNvPr id="5" name="Problem card 1"/>
          <p:cNvSpPr/>
          <p:nvPr/>
        </p:nvSpPr>
        <p:spPr>
          <a:xfrm>
            <a:off x="640080" y="2286000"/>
            <a:ext cx="3454298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Problem number 1 chip"/>
          <p:cNvSpPr/>
          <p:nvPr/>
        </p:nvSpPr>
        <p:spPr>
          <a:xfrm>
            <a:off x="1005840" y="2651760"/>
            <a:ext cx="338328" cy="219456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Problem number 1"/>
          <p:cNvSpPr txBox="1"/>
          <p:nvPr/>
        </p:nvSpPr>
        <p:spPr>
          <a:xfrm>
            <a:off x="1005840" y="2651760"/>
            <a:ext cx="338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Problem title 1"/>
          <p:cNvSpPr txBox="1"/>
          <p:nvPr/>
        </p:nvSpPr>
        <p:spPr>
          <a:xfrm>
            <a:off x="1005840" y="3200400"/>
            <a:ext cx="27227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Manual evidence collection</a:t>
            </a:r>
            <a:endParaRPr lang="en-US" sz="1800" dirty="0"/>
          </a:p>
        </p:txBody>
      </p:sp>
      <p:sp>
        <p:nvSpPr>
          <p:cNvPr id="9" name="Problem body 1"/>
          <p:cNvSpPr txBox="1"/>
          <p:nvPr/>
        </p:nvSpPr>
        <p:spPr>
          <a:xfrm>
            <a:off x="1005840" y="3840480"/>
            <a:ext cx="27227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Teams spend hours gathering screenshots and exporting logs to prove controls are operating.</a:t>
            </a:r>
            <a:endParaRPr lang="en-US" sz="1400" dirty="0"/>
          </a:p>
        </p:txBody>
      </p:sp>
      <p:sp>
        <p:nvSpPr>
          <p:cNvPr id="10" name="Problem card 2"/>
          <p:cNvSpPr/>
          <p:nvPr/>
        </p:nvSpPr>
        <p:spPr>
          <a:xfrm>
            <a:off x="4368698" y="2286000"/>
            <a:ext cx="3454298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Problem number 2 chip"/>
          <p:cNvSpPr/>
          <p:nvPr/>
        </p:nvSpPr>
        <p:spPr>
          <a:xfrm>
            <a:off x="4734458" y="2651760"/>
            <a:ext cx="338328" cy="219456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Problem number 2"/>
          <p:cNvSpPr txBox="1"/>
          <p:nvPr/>
        </p:nvSpPr>
        <p:spPr>
          <a:xfrm>
            <a:off x="4734458" y="2651760"/>
            <a:ext cx="338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Problem title 2"/>
          <p:cNvSpPr txBox="1"/>
          <p:nvPr/>
        </p:nvSpPr>
        <p:spPr>
          <a:xfrm>
            <a:off x="4734458" y="3200400"/>
            <a:ext cx="27227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Point-in-time assessments</a:t>
            </a:r>
            <a:endParaRPr lang="en-US" sz="1800" dirty="0"/>
          </a:p>
        </p:txBody>
      </p:sp>
      <p:sp>
        <p:nvSpPr>
          <p:cNvPr id="14" name="Problem body 2"/>
          <p:cNvSpPr txBox="1"/>
          <p:nvPr/>
        </p:nvSpPr>
        <p:spPr>
          <a:xfrm>
            <a:off x="4734458" y="3840480"/>
            <a:ext cx="27227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Compliance is verified at a single moment, missing drift and changes between audit cycles.</a:t>
            </a:r>
            <a:endParaRPr lang="en-US" sz="1400" dirty="0"/>
          </a:p>
        </p:txBody>
      </p:sp>
      <p:sp>
        <p:nvSpPr>
          <p:cNvPr id="15" name="Problem card 3"/>
          <p:cNvSpPr/>
          <p:nvPr/>
        </p:nvSpPr>
        <p:spPr>
          <a:xfrm>
            <a:off x="8097317" y="2286000"/>
            <a:ext cx="3454298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Problem number 3 chip"/>
          <p:cNvSpPr/>
          <p:nvPr/>
        </p:nvSpPr>
        <p:spPr>
          <a:xfrm>
            <a:off x="8463077" y="2651760"/>
            <a:ext cx="338328" cy="219456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Problem number 3"/>
          <p:cNvSpPr txBox="1"/>
          <p:nvPr/>
        </p:nvSpPr>
        <p:spPr>
          <a:xfrm>
            <a:off x="8463077" y="2651760"/>
            <a:ext cx="338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Problem title 3"/>
          <p:cNvSpPr txBox="1"/>
          <p:nvPr/>
        </p:nvSpPr>
        <p:spPr>
          <a:xfrm>
            <a:off x="8463077" y="3200400"/>
            <a:ext cx="27227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Documentation is not reality</a:t>
            </a:r>
            <a:endParaRPr lang="en-US" sz="1800" dirty="0"/>
          </a:p>
        </p:txBody>
      </p:sp>
      <p:sp>
        <p:nvSpPr>
          <p:cNvPr id="19" name="Problem body 3"/>
          <p:cNvSpPr txBox="1"/>
          <p:nvPr/>
        </p:nvSpPr>
        <p:spPr>
          <a:xfrm>
            <a:off x="8463077" y="3840480"/>
            <a:ext cx="27227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What is documented in policies rarely reflects what is actually deployed and enforced.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3737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approach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-100" kern="0" dirty="0">
                <a:solidFill>
                  <a:schemeClr val="tx1"/>
                </a:solidFill>
              </a:rPr>
              <a:t>GRC engineering</a:t>
            </a:r>
            <a:endParaRPr lang="en-US" sz="3600" dirty="0"/>
          </a:p>
        </p:txBody>
      </p:sp>
      <p:sp>
        <p:nvSpPr>
          <p:cNvPr id="4" name="Lede"/>
          <p:cNvSpPr txBox="1"/>
          <p:nvPr/>
        </p:nvSpPr>
        <p:spPr>
          <a:xfrm>
            <a:off x="640080" y="1600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Shift from manual documentation to automated, code-driven compliance. Every control has an owner, a pipeline, and a receipt.</a:t>
            </a:r>
            <a:endParaRPr lang="en-US" sz="1500" dirty="0"/>
          </a:p>
        </p:txBody>
      </p:sp>
      <p:sp>
        <p:nvSpPr>
          <p:cNvPr id="5" name="Approach row 1"/>
          <p:cNvSpPr/>
          <p:nvPr/>
        </p:nvSpPr>
        <p:spPr>
          <a:xfrm>
            <a:off x="640080" y="2377440"/>
            <a:ext cx="10911535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Before 1"/>
          <p:cNvSpPr txBox="1"/>
          <p:nvPr/>
        </p:nvSpPr>
        <p:spPr>
          <a:xfrm>
            <a:off x="1097280" y="23774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Infrastructure as code</a:t>
            </a:r>
            <a:endParaRPr lang="en-US" sz="2000" dirty="0"/>
          </a:p>
        </p:txBody>
      </p:sp>
      <p:pic>
        <p:nvPicPr>
          <p:cNvPr id="7" name="Arrow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8688" y="2697480"/>
            <a:ext cx="274320" cy="274320"/>
          </a:xfrm>
          <a:prstGeom prst="rect">
            <a:avLst/>
          </a:prstGeom>
        </p:spPr>
      </p:pic>
      <p:sp>
        <p:nvSpPr>
          <p:cNvPr id="8" name="After 1"/>
          <p:cNvSpPr txBox="1"/>
          <p:nvPr/>
        </p:nvSpPr>
        <p:spPr>
          <a:xfrm>
            <a:off x="6644488" y="23774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Compliance by default</a:t>
            </a:r>
            <a:endParaRPr lang="en-US" sz="2000" dirty="0"/>
          </a:p>
        </p:txBody>
      </p:sp>
      <p:sp>
        <p:nvSpPr>
          <p:cNvPr id="9" name="Approach row 2"/>
          <p:cNvSpPr/>
          <p:nvPr/>
        </p:nvSpPr>
        <p:spPr>
          <a:xfrm>
            <a:off x="640080" y="3520440"/>
            <a:ext cx="10911535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Before 2"/>
          <p:cNvSpPr txBox="1"/>
          <p:nvPr/>
        </p:nvSpPr>
        <p:spPr>
          <a:xfrm>
            <a:off x="1097280" y="35204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Policy as code</a:t>
            </a:r>
            <a:endParaRPr lang="en-US" sz="2000" dirty="0"/>
          </a:p>
        </p:txBody>
      </p:sp>
      <p:pic>
        <p:nvPicPr>
          <p:cNvPr id="11" name="Arrow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8688" y="3840480"/>
            <a:ext cx="274320" cy="274320"/>
          </a:xfrm>
          <a:prstGeom prst="rect">
            <a:avLst/>
          </a:prstGeom>
        </p:spPr>
      </p:pic>
      <p:sp>
        <p:nvSpPr>
          <p:cNvPr id="12" name="After 2"/>
          <p:cNvSpPr txBox="1"/>
          <p:nvPr/>
        </p:nvSpPr>
        <p:spPr>
          <a:xfrm>
            <a:off x="6644488" y="35204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Automated enforcement</a:t>
            </a:r>
            <a:endParaRPr lang="en-US" sz="2000" dirty="0"/>
          </a:p>
        </p:txBody>
      </p:sp>
      <p:sp>
        <p:nvSpPr>
          <p:cNvPr id="13" name="Approach row 3"/>
          <p:cNvSpPr/>
          <p:nvPr/>
        </p:nvSpPr>
        <p:spPr>
          <a:xfrm>
            <a:off x="640080" y="4663440"/>
            <a:ext cx="10911535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Before 3"/>
          <p:cNvSpPr txBox="1"/>
          <p:nvPr/>
        </p:nvSpPr>
        <p:spPr>
          <a:xfrm>
            <a:off x="1097280" y="46634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CI/CD integration</a:t>
            </a:r>
            <a:endParaRPr lang="en-US" sz="2000" dirty="0"/>
          </a:p>
        </p:txBody>
      </p:sp>
      <p:pic>
        <p:nvPicPr>
          <p:cNvPr id="15" name="Arrow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688" y="4983480"/>
            <a:ext cx="274320" cy="274320"/>
          </a:xfrm>
          <a:prstGeom prst="rect">
            <a:avLst/>
          </a:prstGeom>
        </p:spPr>
      </p:pic>
      <p:sp>
        <p:nvSpPr>
          <p:cNvPr id="16" name="After 3"/>
          <p:cNvSpPr txBox="1"/>
          <p:nvPr/>
        </p:nvSpPr>
        <p:spPr>
          <a:xfrm>
            <a:off x="6644488" y="46634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Continuous evidence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3737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-100" kern="0" dirty="0">
                <a:solidFill>
                  <a:schemeClr val="tx1"/>
                </a:solidFill>
              </a:rPr>
              <a:t>The numbers</a:t>
            </a:r>
            <a:endParaRPr lang="en-US" sz="3600" dirty="0"/>
          </a:p>
        </p:txBody>
      </p:sp>
      <p:sp>
        <p:nvSpPr>
          <p:cNvPr id="4" name="Hero stat"/>
          <p:cNvSpPr txBox="1"/>
          <p:nvPr/>
        </p:nvSpPr>
        <p:spPr>
          <a:xfrm>
            <a:off x="640080" y="219456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0" spc="-400" kern="0" dirty="0">
                <a:solidFill>
                  <a:schemeClr val="accent1"/>
                </a:solidFill>
              </a:rPr>
              <a:t>$330</a:t>
            </a:r>
            <a:pPr indent="0" marL="0">
              <a:buNone/>
            </a:pPr>
            <a:r>
              <a:rPr lang="en-US" sz="6400" spc="-400" kern="0" dirty="0">
                <a:solidFill>
                  <a:schemeClr val="accent1"/>
                </a:solidFill>
              </a:rPr>
              <a:t>K</a:t>
            </a:r>
            <a:endParaRPr lang="en-US" sz="12000" dirty="0"/>
          </a:p>
        </p:txBody>
      </p:sp>
      <p:sp>
        <p:nvSpPr>
          <p:cNvPr id="5" name="Hero stat label"/>
          <p:cNvSpPr txBox="1"/>
          <p:nvPr/>
        </p:nvSpPr>
        <p:spPr>
          <a:xfrm>
            <a:off x="64008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Highest verified salary, 2026 cohort</a:t>
            </a:r>
            <a:endParaRPr lang="en-US" sz="1000" dirty="0"/>
          </a:p>
        </p:txBody>
      </p:sp>
      <p:sp>
        <p:nvSpPr>
          <p:cNvPr id="6" name="Stat divider"/>
          <p:cNvSpPr/>
          <p:nvPr/>
        </p:nvSpPr>
        <p:spPr>
          <a:xfrm>
            <a:off x="6309360" y="2194560"/>
            <a:ext cx="0" cy="292608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7" name="Stat headline"/>
          <p:cNvSpPr txBox="1"/>
          <p:nvPr/>
        </p:nvSpPr>
        <p:spPr>
          <a:xfrm>
            <a:off x="6675120" y="2194560"/>
            <a:ext cx="48764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spc="-100" kern="0" dirty="0">
                <a:solidFill>
                  <a:schemeClr val="tx1"/>
                </a:solidFill>
              </a:rPr>
              <a:t>The work works</a:t>
            </a:r>
            <a:endParaRPr lang="en-US" sz="3600" dirty="0"/>
          </a:p>
        </p:txBody>
      </p:sp>
      <p:sp>
        <p:nvSpPr>
          <p:cNvPr id="8" name="Stat body"/>
          <p:cNvSpPr txBox="1"/>
          <p:nvPr/>
        </p:nvSpPr>
        <p:spPr>
          <a:xfrm>
            <a:off x="6675120" y="3017520"/>
            <a:ext cx="48764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424+ members. 70,000+ LinkedIn reach. Real cloud certs, real offers, real roles. Receipts, not promises.</a:t>
            </a:r>
            <a:endParaRPr lang="en-US" sz="1500" dirty="0"/>
          </a:p>
        </p:txBody>
      </p:sp>
      <p:sp>
        <p:nvSpPr>
          <p:cNvPr id="9" name="Mini stat 1"/>
          <p:cNvSpPr txBox="1"/>
          <p:nvPr/>
        </p:nvSpPr>
        <p:spPr>
          <a:xfrm>
            <a:off x="6675120" y="4206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424+</a:t>
            </a:r>
            <a:endParaRPr lang="en-US" sz="3000" dirty="0"/>
          </a:p>
        </p:txBody>
      </p:sp>
      <p:sp>
        <p:nvSpPr>
          <p:cNvPr id="10" name="Mini stat label 1"/>
          <p:cNvSpPr txBox="1"/>
          <p:nvPr/>
        </p:nvSpPr>
        <p:spPr>
          <a:xfrm>
            <a:off x="6675120" y="4754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Members</a:t>
            </a:r>
            <a:endParaRPr lang="en-US" sz="900" dirty="0"/>
          </a:p>
        </p:txBody>
      </p:sp>
      <p:sp>
        <p:nvSpPr>
          <p:cNvPr id="11" name="Mini stat 2"/>
          <p:cNvSpPr txBox="1"/>
          <p:nvPr/>
        </p:nvSpPr>
        <p:spPr>
          <a:xfrm>
            <a:off x="8412480" y="4206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72%</a:t>
            </a:r>
            <a:endParaRPr lang="en-US" sz="3000" dirty="0"/>
          </a:p>
        </p:txBody>
      </p:sp>
      <p:sp>
        <p:nvSpPr>
          <p:cNvPr id="12" name="Mini stat label 2"/>
          <p:cNvSpPr txBox="1"/>
          <p:nvPr/>
        </p:nvSpPr>
        <p:spPr>
          <a:xfrm>
            <a:off x="8412480" y="4754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First-try pass</a:t>
            </a:r>
            <a:endParaRPr lang="en-US" sz="900" dirty="0"/>
          </a:p>
        </p:txBody>
      </p:sp>
      <p:sp>
        <p:nvSpPr>
          <p:cNvPr id="13" name="Mini stat 3"/>
          <p:cNvSpPr txBox="1"/>
          <p:nvPr/>
        </p:nvSpPr>
        <p:spPr>
          <a:xfrm>
            <a:off x="10149840" y="4206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60</a:t>
            </a:r>
            <a:endParaRPr lang="en-US" sz="3000" dirty="0"/>
          </a:p>
        </p:txBody>
      </p:sp>
      <p:sp>
        <p:nvSpPr>
          <p:cNvPr id="14" name="Mini stat label 3"/>
          <p:cNvSpPr txBox="1"/>
          <p:nvPr/>
        </p:nvSpPr>
        <p:spPr>
          <a:xfrm>
            <a:off x="10149840" y="4754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 questions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3737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 quote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-100" kern="0" dirty="0">
                <a:solidFill>
                  <a:schemeClr val="tx1"/>
                </a:solidFill>
              </a:rPr>
              <a:t>Hear it from the crew</a:t>
            </a:r>
            <a:endParaRPr lang="en-US" sz="3600" dirty="0"/>
          </a:p>
        </p:txBody>
      </p:sp>
      <p:sp>
        <p:nvSpPr>
          <p:cNvPr id="4" name="Quote"/>
          <p:cNvSpPr txBox="1"/>
          <p:nvPr/>
        </p:nvSpPr>
        <p:spPr>
          <a:xfrm>
            <a:off x="640080" y="237744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spc="-100" kern="0" dirty="0">
                <a:solidFill>
                  <a:schemeClr val="tx1"/>
                </a:solidFill>
              </a:rPr>
              <a:t>“The work works. Put in the reps, stay consistent, and the results show up. I'm living proof.”</a:t>
            </a:r>
            <a:endParaRPr lang="en-US" sz="3000" dirty="0"/>
          </a:p>
        </p:txBody>
      </p:sp>
      <p:sp>
        <p:nvSpPr>
          <p:cNvPr id="5" name="Avatar"/>
          <p:cNvSpPr/>
          <p:nvPr/>
        </p:nvSpPr>
        <p:spPr>
          <a:xfrm>
            <a:off x="640080" y="457200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Avatar initials"/>
          <p:cNvSpPr txBox="1"/>
          <p:nvPr/>
        </p:nvSpPr>
        <p:spPr>
          <a:xfrm>
            <a:off x="640080" y="4572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JR</a:t>
            </a:r>
            <a:endParaRPr lang="en-US" sz="1200" dirty="0"/>
          </a:p>
        </p:txBody>
      </p:sp>
      <p:sp>
        <p:nvSpPr>
          <p:cNvPr id="7" name="Quote name"/>
          <p:cNvSpPr txBox="1"/>
          <p:nvPr/>
        </p:nvSpPr>
        <p:spPr>
          <a:xfrm>
            <a:off x="1371600" y="45445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James Robinson (J-R)</a:t>
            </a:r>
            <a:endParaRPr lang="en-US" sz="1500" dirty="0"/>
          </a:p>
        </p:txBody>
      </p:sp>
      <p:sp>
        <p:nvSpPr>
          <p:cNvPr id="8" name="Quote role"/>
          <p:cNvSpPr txBox="1"/>
          <p:nvPr/>
        </p:nvSpPr>
        <p:spPr>
          <a:xfrm>
            <a:off x="137160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GRC Program Analyst at Compyl · Jan 13,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3737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Certification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-100" kern="0" dirty="0">
                <a:solidFill>
                  <a:schemeClr val="tx1"/>
                </a:solidFill>
              </a:rPr>
              <a:t>What the CGE-P covers</a:t>
            </a:r>
            <a:endParaRPr lang="en-US" sz="3600" dirty="0"/>
          </a:p>
        </p:txBody>
      </p:sp>
      <p:sp>
        <p:nvSpPr>
          <p:cNvPr id="4" name="Cert card 1"/>
          <p:cNvSpPr/>
          <p:nvPr/>
        </p:nvSpPr>
        <p:spPr>
          <a:xfrm>
            <a:off x="640080" y="1965960"/>
            <a:ext cx="3454298" cy="1943100"/>
          </a:xfrm>
          <a:prstGeom prst="roundRect">
            <a:avLst>
              <a:gd name="adj" fmla="val 5647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Cert label 1"/>
          <p:cNvSpPr txBox="1"/>
          <p:nvPr/>
        </p:nvSpPr>
        <p:spPr>
          <a:xfrm>
            <a:off x="960120" y="224028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Chapters</a:t>
            </a:r>
            <a:endParaRPr lang="en-US" sz="1000" dirty="0"/>
          </a:p>
        </p:txBody>
      </p:sp>
      <p:sp>
        <p:nvSpPr>
          <p:cNvPr id="6" name="Cert stat 1"/>
          <p:cNvSpPr txBox="1"/>
          <p:nvPr/>
        </p:nvSpPr>
        <p:spPr>
          <a:xfrm>
            <a:off x="960120" y="2766060"/>
            <a:ext cx="2814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spc="-100" kern="0" dirty="0">
                <a:solidFill>
                  <a:schemeClr val="tx1"/>
                </a:solidFill>
              </a:rPr>
              <a:t>7</a:t>
            </a:r>
            <a:endParaRPr lang="en-US" sz="3400" dirty="0"/>
          </a:p>
        </p:txBody>
      </p:sp>
      <p:sp>
        <p:nvSpPr>
          <p:cNvPr id="7" name="Cert desc 1"/>
          <p:cNvSpPr txBox="1"/>
          <p:nvPr/>
        </p:nvSpPr>
        <p:spPr>
          <a:xfrm>
            <a:off x="960120" y="3360420"/>
            <a:ext cx="2814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Comprehensive coverage of GRC engineering concepts</a:t>
            </a:r>
            <a:endParaRPr lang="en-US" sz="1200" dirty="0"/>
          </a:p>
        </p:txBody>
      </p:sp>
      <p:sp>
        <p:nvSpPr>
          <p:cNvPr id="8" name="Cert card 2"/>
          <p:cNvSpPr/>
          <p:nvPr/>
        </p:nvSpPr>
        <p:spPr>
          <a:xfrm>
            <a:off x="4368698" y="1965960"/>
            <a:ext cx="3454298" cy="1943100"/>
          </a:xfrm>
          <a:prstGeom prst="roundRect">
            <a:avLst>
              <a:gd name="adj" fmla="val 5647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Cert label 2"/>
          <p:cNvSpPr txBox="1"/>
          <p:nvPr/>
        </p:nvSpPr>
        <p:spPr>
          <a:xfrm>
            <a:off x="4688738" y="224028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</a:t>
            </a:r>
            <a:endParaRPr lang="en-US" sz="1000" dirty="0"/>
          </a:p>
        </p:txBody>
      </p:sp>
      <p:sp>
        <p:nvSpPr>
          <p:cNvPr id="10" name="Cert stat 2"/>
          <p:cNvSpPr txBox="1"/>
          <p:nvPr/>
        </p:nvSpPr>
        <p:spPr>
          <a:xfrm>
            <a:off x="4688738" y="2766060"/>
            <a:ext cx="2814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spc="-100" kern="0" dirty="0">
                <a:solidFill>
                  <a:schemeClr val="tx1"/>
                </a:solidFill>
              </a:rPr>
              <a:t>~3 hrs</a:t>
            </a:r>
            <a:endParaRPr lang="en-US" sz="3400" dirty="0"/>
          </a:p>
        </p:txBody>
      </p:sp>
      <p:sp>
        <p:nvSpPr>
          <p:cNvPr id="11" name="Cert desc 2"/>
          <p:cNvSpPr txBox="1"/>
          <p:nvPr/>
        </p:nvSpPr>
        <p:spPr>
          <a:xfrm>
            <a:off x="4688738" y="3360420"/>
            <a:ext cx="2814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Short lessons designed to build understanding</a:t>
            </a:r>
            <a:endParaRPr lang="en-US" sz="1200" dirty="0"/>
          </a:p>
        </p:txBody>
      </p:sp>
      <p:sp>
        <p:nvSpPr>
          <p:cNvPr id="12" name="Cert card 3"/>
          <p:cNvSpPr/>
          <p:nvPr/>
        </p:nvSpPr>
        <p:spPr>
          <a:xfrm>
            <a:off x="8097317" y="1965960"/>
            <a:ext cx="3454298" cy="1943100"/>
          </a:xfrm>
          <a:prstGeom prst="roundRect">
            <a:avLst>
              <a:gd name="adj" fmla="val 5647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Cert label 3"/>
          <p:cNvSpPr txBox="1"/>
          <p:nvPr/>
        </p:nvSpPr>
        <p:spPr>
          <a:xfrm>
            <a:off x="8417357" y="224028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Study time</a:t>
            </a:r>
            <a:endParaRPr lang="en-US" sz="1000" dirty="0"/>
          </a:p>
        </p:txBody>
      </p:sp>
      <p:sp>
        <p:nvSpPr>
          <p:cNvPr id="14" name="Cert stat 3"/>
          <p:cNvSpPr txBox="1"/>
          <p:nvPr/>
        </p:nvSpPr>
        <p:spPr>
          <a:xfrm>
            <a:off x="8417357" y="2766060"/>
            <a:ext cx="2814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spc="-100" kern="0" dirty="0">
                <a:solidFill>
                  <a:schemeClr val="tx1"/>
                </a:solidFill>
              </a:rPr>
              <a:t>6–8 hrs</a:t>
            </a:r>
            <a:endParaRPr lang="en-US" sz="3400" dirty="0"/>
          </a:p>
        </p:txBody>
      </p:sp>
      <p:sp>
        <p:nvSpPr>
          <p:cNvPr id="15" name="Cert desc 3"/>
          <p:cNvSpPr txBox="1"/>
          <p:nvPr/>
        </p:nvSpPr>
        <p:spPr>
          <a:xfrm>
            <a:off x="8417357" y="3360420"/>
            <a:ext cx="2814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Reading plus hands-on work</a:t>
            </a:r>
            <a:endParaRPr lang="en-US" sz="1200" dirty="0"/>
          </a:p>
        </p:txBody>
      </p:sp>
      <p:sp>
        <p:nvSpPr>
          <p:cNvPr id="16" name="Cert card 4"/>
          <p:cNvSpPr/>
          <p:nvPr/>
        </p:nvSpPr>
        <p:spPr>
          <a:xfrm>
            <a:off x="640080" y="4183380"/>
            <a:ext cx="3454298" cy="1943100"/>
          </a:xfrm>
          <a:prstGeom prst="roundRect">
            <a:avLst>
              <a:gd name="adj" fmla="val 5647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Cert label 4"/>
          <p:cNvSpPr txBox="1"/>
          <p:nvPr/>
        </p:nvSpPr>
        <p:spPr>
          <a:xfrm>
            <a:off x="960120" y="445770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</a:t>
            </a:r>
            <a:endParaRPr lang="en-US" sz="1000" dirty="0"/>
          </a:p>
        </p:txBody>
      </p:sp>
      <p:sp>
        <p:nvSpPr>
          <p:cNvPr id="18" name="Cert stat 4"/>
          <p:cNvSpPr txBox="1"/>
          <p:nvPr/>
        </p:nvSpPr>
        <p:spPr>
          <a:xfrm>
            <a:off x="960120" y="4983480"/>
            <a:ext cx="2814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spc="-100" kern="0" dirty="0">
                <a:solidFill>
                  <a:schemeClr val="tx1"/>
                </a:solidFill>
              </a:rPr>
              <a:t>Hands-on</a:t>
            </a:r>
            <a:endParaRPr lang="en-US" sz="3400" dirty="0"/>
          </a:p>
        </p:txBody>
      </p:sp>
      <p:sp>
        <p:nvSpPr>
          <p:cNvPr id="19" name="Cert desc 4"/>
          <p:cNvSpPr txBox="1"/>
          <p:nvPr/>
        </p:nvSpPr>
        <p:spPr>
          <a:xfrm>
            <a:off x="960120" y="5577840"/>
            <a:ext cx="2814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Real-world experience reinforcing concepts</a:t>
            </a:r>
            <a:endParaRPr lang="en-US" sz="1200" dirty="0"/>
          </a:p>
        </p:txBody>
      </p:sp>
      <p:sp>
        <p:nvSpPr>
          <p:cNvPr id="20" name="Cert card 5"/>
          <p:cNvSpPr/>
          <p:nvPr/>
        </p:nvSpPr>
        <p:spPr>
          <a:xfrm>
            <a:off x="4368698" y="4183380"/>
            <a:ext cx="3454298" cy="1943100"/>
          </a:xfrm>
          <a:prstGeom prst="roundRect">
            <a:avLst>
              <a:gd name="adj" fmla="val 5647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Cert label 5"/>
          <p:cNvSpPr txBox="1"/>
          <p:nvPr/>
        </p:nvSpPr>
        <p:spPr>
          <a:xfrm>
            <a:off x="4688738" y="445770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</a:t>
            </a:r>
            <a:endParaRPr lang="en-US" sz="1000" dirty="0"/>
          </a:p>
        </p:txBody>
      </p:sp>
      <p:sp>
        <p:nvSpPr>
          <p:cNvPr id="22" name="Cert stat 5"/>
          <p:cNvSpPr txBox="1"/>
          <p:nvPr/>
        </p:nvSpPr>
        <p:spPr>
          <a:xfrm>
            <a:off x="4688738" y="4983480"/>
            <a:ext cx="2814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spc="-100" kern="0" dirty="0">
                <a:solidFill>
                  <a:schemeClr val="tx1"/>
                </a:solidFill>
              </a:rPr>
              <a:t>60 Q</a:t>
            </a:r>
            <a:endParaRPr lang="en-US" sz="3400" dirty="0"/>
          </a:p>
        </p:txBody>
      </p:sp>
      <p:sp>
        <p:nvSpPr>
          <p:cNvPr id="23" name="Cert desc 5"/>
          <p:cNvSpPr txBox="1"/>
          <p:nvPr/>
        </p:nvSpPr>
        <p:spPr>
          <a:xfrm>
            <a:off x="4688738" y="5577840"/>
            <a:ext cx="2814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Validate your knowledge across seven domains</a:t>
            </a:r>
            <a:endParaRPr lang="en-US" sz="1200" dirty="0"/>
          </a:p>
        </p:txBody>
      </p:sp>
      <p:sp>
        <p:nvSpPr>
          <p:cNvPr id="24" name="Cert card 6"/>
          <p:cNvSpPr/>
          <p:nvPr/>
        </p:nvSpPr>
        <p:spPr>
          <a:xfrm>
            <a:off x="8097317" y="4183380"/>
            <a:ext cx="3454298" cy="1943100"/>
          </a:xfrm>
          <a:prstGeom prst="roundRect">
            <a:avLst>
              <a:gd name="adj" fmla="val 5647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Cert label 6"/>
          <p:cNvSpPr txBox="1"/>
          <p:nvPr/>
        </p:nvSpPr>
        <p:spPr>
          <a:xfrm>
            <a:off x="8417357" y="445770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</a:t>
            </a:r>
            <a:endParaRPr lang="en-US" sz="1000" dirty="0"/>
          </a:p>
        </p:txBody>
      </p:sp>
      <p:sp>
        <p:nvSpPr>
          <p:cNvPr id="26" name="Cert stat 6"/>
          <p:cNvSpPr txBox="1"/>
          <p:nvPr/>
        </p:nvSpPr>
        <p:spPr>
          <a:xfrm>
            <a:off x="8417357" y="4983480"/>
            <a:ext cx="2814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spc="-100" kern="0" dirty="0">
                <a:solidFill>
                  <a:schemeClr val="tx1"/>
                </a:solidFill>
              </a:rPr>
              <a:t>IaC</a:t>
            </a:r>
            <a:endParaRPr lang="en-US" sz="3400" dirty="0"/>
          </a:p>
        </p:txBody>
      </p:sp>
      <p:sp>
        <p:nvSpPr>
          <p:cNvPr id="27" name="Cert desc 6"/>
          <p:cNvSpPr txBox="1"/>
          <p:nvPr/>
        </p:nvSpPr>
        <p:spPr>
          <a:xfrm>
            <a:off x="8417357" y="5577840"/>
            <a:ext cx="28142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Ship a real compliance-as-code project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3737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 structure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-100" kern="0" dirty="0">
                <a:solidFill>
                  <a:schemeClr val="tx1"/>
                </a:solidFill>
              </a:rPr>
              <a:t>Course roadmap</a:t>
            </a:r>
            <a:endParaRPr lang="en-US" sz="3600" dirty="0"/>
          </a:p>
        </p:txBody>
      </p:sp>
      <p:sp>
        <p:nvSpPr>
          <p:cNvPr id="4" name="Roadmap row 1"/>
          <p:cNvSpPr/>
          <p:nvPr/>
        </p:nvSpPr>
        <p:spPr>
          <a:xfrm>
            <a:off x="640080" y="1965960"/>
            <a:ext cx="10911535" cy="512064"/>
          </a:xfrm>
          <a:prstGeom prst="roundRect">
            <a:avLst>
              <a:gd name="adj" fmla="val 214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Roadmap number 1 chip"/>
          <p:cNvSpPr/>
          <p:nvPr/>
        </p:nvSpPr>
        <p:spPr>
          <a:xfrm>
            <a:off x="914400" y="2112264"/>
            <a:ext cx="338328" cy="219456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Roadmap number 1"/>
          <p:cNvSpPr txBox="1"/>
          <p:nvPr/>
        </p:nvSpPr>
        <p:spPr>
          <a:xfrm>
            <a:off x="914400" y="2112264"/>
            <a:ext cx="338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Roadmap title 1"/>
          <p:cNvSpPr txBox="1"/>
          <p:nvPr/>
        </p:nvSpPr>
        <p:spPr>
          <a:xfrm>
            <a:off x="1645920" y="196596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Foundations</a:t>
            </a:r>
            <a:endParaRPr lang="en-US" sz="1500" dirty="0"/>
          </a:p>
        </p:txBody>
      </p:sp>
      <p:sp>
        <p:nvSpPr>
          <p:cNvPr id="8" name="Roadmap desc 1"/>
          <p:cNvSpPr txBox="1"/>
          <p:nvPr/>
        </p:nvSpPr>
        <p:spPr>
          <a:xfrm>
            <a:off x="5303520" y="1965960"/>
            <a:ext cx="59737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Core GRC engineering concepts and the maturity model</a:t>
            </a:r>
            <a:endParaRPr lang="en-US" sz="1300" dirty="0"/>
          </a:p>
        </p:txBody>
      </p:sp>
      <p:sp>
        <p:nvSpPr>
          <p:cNvPr id="9" name="Roadmap row 2"/>
          <p:cNvSpPr/>
          <p:nvPr/>
        </p:nvSpPr>
        <p:spPr>
          <a:xfrm>
            <a:off x="640080" y="2569464"/>
            <a:ext cx="10911535" cy="512064"/>
          </a:xfrm>
          <a:prstGeom prst="roundRect">
            <a:avLst>
              <a:gd name="adj" fmla="val 214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Roadmap number 2 chip"/>
          <p:cNvSpPr/>
          <p:nvPr/>
        </p:nvSpPr>
        <p:spPr>
          <a:xfrm>
            <a:off x="914400" y="2715768"/>
            <a:ext cx="338328" cy="219456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Roadmap number 2"/>
          <p:cNvSpPr txBox="1"/>
          <p:nvPr/>
        </p:nvSpPr>
        <p:spPr>
          <a:xfrm>
            <a:off x="914400" y="2715768"/>
            <a:ext cx="338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Roadmap title 2"/>
          <p:cNvSpPr txBox="1"/>
          <p:nvPr/>
        </p:nvSpPr>
        <p:spPr>
          <a:xfrm>
            <a:off x="1645920" y="256946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Infrastructure as code</a:t>
            </a:r>
            <a:endParaRPr lang="en-US" sz="1500" dirty="0"/>
          </a:p>
        </p:txBody>
      </p:sp>
      <p:sp>
        <p:nvSpPr>
          <p:cNvPr id="13" name="Roadmap desc 2"/>
          <p:cNvSpPr txBox="1"/>
          <p:nvPr/>
        </p:nvSpPr>
        <p:spPr>
          <a:xfrm>
            <a:off x="5303520" y="2569464"/>
            <a:ext cx="59737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Terraform fundamentals and compliance as code</a:t>
            </a:r>
            <a:endParaRPr lang="en-US" sz="1300" dirty="0"/>
          </a:p>
        </p:txBody>
      </p:sp>
      <p:sp>
        <p:nvSpPr>
          <p:cNvPr id="14" name="Roadmap row 3"/>
          <p:cNvSpPr/>
          <p:nvPr/>
        </p:nvSpPr>
        <p:spPr>
          <a:xfrm>
            <a:off x="640080" y="3172968"/>
            <a:ext cx="10911535" cy="512064"/>
          </a:xfrm>
          <a:prstGeom prst="roundRect">
            <a:avLst>
              <a:gd name="adj" fmla="val 214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Roadmap number 3 chip"/>
          <p:cNvSpPr/>
          <p:nvPr/>
        </p:nvSpPr>
        <p:spPr>
          <a:xfrm>
            <a:off x="914400" y="3319272"/>
            <a:ext cx="338328" cy="219456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Roadmap number 3"/>
          <p:cNvSpPr txBox="1"/>
          <p:nvPr/>
        </p:nvSpPr>
        <p:spPr>
          <a:xfrm>
            <a:off x="914400" y="3319272"/>
            <a:ext cx="338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Roadmap title 3"/>
          <p:cNvSpPr txBox="1"/>
          <p:nvPr/>
        </p:nvSpPr>
        <p:spPr>
          <a:xfrm>
            <a:off x="1645920" y="3172968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Policy as code</a:t>
            </a:r>
            <a:endParaRPr lang="en-US" sz="1500" dirty="0"/>
          </a:p>
        </p:txBody>
      </p:sp>
      <p:sp>
        <p:nvSpPr>
          <p:cNvPr id="18" name="Roadmap desc 3"/>
          <p:cNvSpPr txBox="1"/>
          <p:nvPr/>
        </p:nvSpPr>
        <p:spPr>
          <a:xfrm>
            <a:off x="5303520" y="3172968"/>
            <a:ext cx="59737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OPA, Rego, automated policy enforcement</a:t>
            </a:r>
            <a:endParaRPr lang="en-US" sz="1300" dirty="0"/>
          </a:p>
        </p:txBody>
      </p:sp>
      <p:sp>
        <p:nvSpPr>
          <p:cNvPr id="19" name="Roadmap row 4"/>
          <p:cNvSpPr/>
          <p:nvPr/>
        </p:nvSpPr>
        <p:spPr>
          <a:xfrm>
            <a:off x="640080" y="3776472"/>
            <a:ext cx="10911535" cy="512064"/>
          </a:xfrm>
          <a:prstGeom prst="roundRect">
            <a:avLst>
              <a:gd name="adj" fmla="val 214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Roadmap number 4 chip"/>
          <p:cNvSpPr/>
          <p:nvPr/>
        </p:nvSpPr>
        <p:spPr>
          <a:xfrm>
            <a:off x="914400" y="3922776"/>
            <a:ext cx="338328" cy="219456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Roadmap number 4"/>
          <p:cNvSpPr txBox="1"/>
          <p:nvPr/>
        </p:nvSpPr>
        <p:spPr>
          <a:xfrm>
            <a:off x="914400" y="3922776"/>
            <a:ext cx="338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Roadmap title 4"/>
          <p:cNvSpPr txBox="1"/>
          <p:nvPr/>
        </p:nvSpPr>
        <p:spPr>
          <a:xfrm>
            <a:off x="1645920" y="3776472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CI/CD and evidence</a:t>
            </a:r>
            <a:endParaRPr lang="en-US" sz="1500" dirty="0"/>
          </a:p>
        </p:txBody>
      </p:sp>
      <p:sp>
        <p:nvSpPr>
          <p:cNvPr id="23" name="Roadmap desc 4"/>
          <p:cNvSpPr txBox="1"/>
          <p:nvPr/>
        </p:nvSpPr>
        <p:spPr>
          <a:xfrm>
            <a:off x="5303520" y="3776472"/>
            <a:ext cx="59737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Pipelines, evidence collection, chain of custody</a:t>
            </a:r>
            <a:endParaRPr lang="en-US" sz="1300" dirty="0"/>
          </a:p>
        </p:txBody>
      </p:sp>
      <p:sp>
        <p:nvSpPr>
          <p:cNvPr id="24" name="Roadmap row 5"/>
          <p:cNvSpPr/>
          <p:nvPr/>
        </p:nvSpPr>
        <p:spPr>
          <a:xfrm>
            <a:off x="640080" y="4379976"/>
            <a:ext cx="10911535" cy="512064"/>
          </a:xfrm>
          <a:prstGeom prst="roundRect">
            <a:avLst>
              <a:gd name="adj" fmla="val 214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Roadmap number 5 chip"/>
          <p:cNvSpPr/>
          <p:nvPr/>
        </p:nvSpPr>
        <p:spPr>
          <a:xfrm>
            <a:off x="914400" y="4526280"/>
            <a:ext cx="338328" cy="219456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Roadmap number 5"/>
          <p:cNvSpPr txBox="1"/>
          <p:nvPr/>
        </p:nvSpPr>
        <p:spPr>
          <a:xfrm>
            <a:off x="914400" y="4526280"/>
            <a:ext cx="338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Roadmap title 5"/>
          <p:cNvSpPr txBox="1"/>
          <p:nvPr/>
        </p:nvSpPr>
        <p:spPr>
          <a:xfrm>
            <a:off x="1645920" y="4379976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Cloud-native security</a:t>
            </a:r>
            <a:endParaRPr lang="en-US" sz="1500" dirty="0"/>
          </a:p>
        </p:txBody>
      </p:sp>
      <p:sp>
        <p:nvSpPr>
          <p:cNvPr id="28" name="Roadmap desc 5"/>
          <p:cNvSpPr txBox="1"/>
          <p:nvPr/>
        </p:nvSpPr>
        <p:spPr>
          <a:xfrm>
            <a:off x="5303520" y="4379976"/>
            <a:ext cx="59737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AWS services and continuous monitoring</a:t>
            </a:r>
            <a:endParaRPr lang="en-US" sz="1300" dirty="0"/>
          </a:p>
        </p:txBody>
      </p:sp>
      <p:sp>
        <p:nvSpPr>
          <p:cNvPr id="29" name="Roadmap row 6"/>
          <p:cNvSpPr/>
          <p:nvPr/>
        </p:nvSpPr>
        <p:spPr>
          <a:xfrm>
            <a:off x="640080" y="4983480"/>
            <a:ext cx="10911535" cy="512064"/>
          </a:xfrm>
          <a:prstGeom prst="roundRect">
            <a:avLst>
              <a:gd name="adj" fmla="val 214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Roadmap number 6 chip"/>
          <p:cNvSpPr/>
          <p:nvPr/>
        </p:nvSpPr>
        <p:spPr>
          <a:xfrm>
            <a:off x="914400" y="5129784"/>
            <a:ext cx="338328" cy="219456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Roadmap number 6"/>
          <p:cNvSpPr txBox="1"/>
          <p:nvPr/>
        </p:nvSpPr>
        <p:spPr>
          <a:xfrm>
            <a:off x="914400" y="5129784"/>
            <a:ext cx="338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Roadmap title 6"/>
          <p:cNvSpPr txBox="1"/>
          <p:nvPr/>
        </p:nvSpPr>
        <p:spPr>
          <a:xfrm>
            <a:off x="1645920" y="498348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OSCAL and cATO</a:t>
            </a:r>
            <a:endParaRPr lang="en-US" sz="1500" dirty="0"/>
          </a:p>
        </p:txBody>
      </p:sp>
      <p:sp>
        <p:nvSpPr>
          <p:cNvPr id="33" name="Roadmap desc 6"/>
          <p:cNvSpPr txBox="1"/>
          <p:nvPr/>
        </p:nvSpPr>
        <p:spPr>
          <a:xfrm>
            <a:off x="5303520" y="4983480"/>
            <a:ext cx="59737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Machine-readable compliance and continuous ATO</a:t>
            </a:r>
            <a:endParaRPr lang="en-US" sz="1300" dirty="0"/>
          </a:p>
        </p:txBody>
      </p:sp>
      <p:sp>
        <p:nvSpPr>
          <p:cNvPr id="34" name="Roadmap row 7"/>
          <p:cNvSpPr/>
          <p:nvPr/>
        </p:nvSpPr>
        <p:spPr>
          <a:xfrm>
            <a:off x="640080" y="5586984"/>
            <a:ext cx="10911535" cy="512064"/>
          </a:xfrm>
          <a:prstGeom prst="roundRect">
            <a:avLst>
              <a:gd name="adj" fmla="val 2142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5" name="Roadmap number 7 chip"/>
          <p:cNvSpPr/>
          <p:nvPr/>
        </p:nvSpPr>
        <p:spPr>
          <a:xfrm>
            <a:off x="914400" y="5733288"/>
            <a:ext cx="338328" cy="219456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6" name="Roadmap number 7"/>
          <p:cNvSpPr txBox="1"/>
          <p:nvPr/>
        </p:nvSpPr>
        <p:spPr>
          <a:xfrm>
            <a:off x="914400" y="5733288"/>
            <a:ext cx="338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  <p:sp>
        <p:nvSpPr>
          <p:cNvPr id="37" name="Roadmap title 7"/>
          <p:cNvSpPr txBox="1"/>
          <p:nvPr/>
        </p:nvSpPr>
        <p:spPr>
          <a:xfrm>
            <a:off x="1645920" y="558698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Capstone and exam</a:t>
            </a:r>
            <a:endParaRPr lang="en-US" sz="1500" dirty="0"/>
          </a:p>
        </p:txBody>
      </p:sp>
      <p:sp>
        <p:nvSpPr>
          <p:cNvPr id="38" name="Roadmap desc 7"/>
          <p:cNvSpPr txBox="1"/>
          <p:nvPr/>
        </p:nvSpPr>
        <p:spPr>
          <a:xfrm>
            <a:off x="5303520" y="5586984"/>
            <a:ext cx="59737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Build your portfolio, earn the cert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3737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 as code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-100" kern="0" dirty="0">
                <a:solidFill>
                  <a:schemeClr val="tx1"/>
                </a:solidFill>
              </a:rPr>
              <a:t>Enforce it, don't document it</a:t>
            </a:r>
            <a:endParaRPr lang="en-US" sz="3600" dirty="0"/>
          </a:p>
        </p:txBody>
      </p:sp>
      <p:sp>
        <p:nvSpPr>
          <p:cNvPr id="4" name="Code panel"/>
          <p:cNvSpPr/>
          <p:nvPr/>
        </p:nvSpPr>
        <p:spPr>
          <a:xfrm>
            <a:off x="640080" y="1965960"/>
            <a:ext cx="576072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Code header rule"/>
          <p:cNvSpPr/>
          <p:nvPr/>
        </p:nvSpPr>
        <p:spPr>
          <a:xfrm>
            <a:off x="640080" y="2350008"/>
            <a:ext cx="576072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6" name="Window dot 1"/>
          <p:cNvSpPr/>
          <p:nvPr/>
        </p:nvSpPr>
        <p:spPr>
          <a:xfrm>
            <a:off x="877824" y="2121408"/>
            <a:ext cx="73152" cy="73152"/>
          </a:xfrm>
          <a:prstGeom prst="ellipse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" name="Window dot 2"/>
          <p:cNvSpPr/>
          <p:nvPr/>
        </p:nvSpPr>
        <p:spPr>
          <a:xfrm>
            <a:off x="987552" y="2121408"/>
            <a:ext cx="73152" cy="73152"/>
          </a:xfrm>
          <a:prstGeom prst="ellipse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8" name="Window dot 3"/>
          <p:cNvSpPr/>
          <p:nvPr/>
        </p:nvSpPr>
        <p:spPr>
          <a:xfrm>
            <a:off x="1097280" y="2121408"/>
            <a:ext cx="73152" cy="73152"/>
          </a:xfrm>
          <a:prstGeom prst="ellipse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" name="Code filename"/>
          <p:cNvSpPr txBox="1"/>
          <p:nvPr/>
        </p:nvSpPr>
        <p:spPr>
          <a:xfrm>
            <a:off x="1325880" y="19659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s3-encryption.tf</a:t>
            </a:r>
            <a:endParaRPr lang="en-US" sz="900" dirty="0"/>
          </a:p>
        </p:txBody>
      </p:sp>
      <p:sp>
        <p:nvSpPr>
          <p:cNvPr id="10" name="Control SC-13 chip"/>
          <p:cNvSpPr/>
          <p:nvPr/>
        </p:nvSpPr>
        <p:spPr>
          <a:xfrm>
            <a:off x="5532120" y="2048256"/>
            <a:ext cx="571500" cy="219456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Control SC-13"/>
          <p:cNvSpPr txBox="1"/>
          <p:nvPr/>
        </p:nvSpPr>
        <p:spPr>
          <a:xfrm>
            <a:off x="5532120" y="2048256"/>
            <a:ext cx="571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SC-13</a:t>
            </a:r>
            <a:endParaRPr lang="en-US" sz="1000" dirty="0"/>
          </a:p>
        </p:txBody>
      </p:sp>
      <p:sp>
        <p:nvSpPr>
          <p:cNvPr id="12" name="Control SC-28 chip"/>
          <p:cNvSpPr/>
          <p:nvPr/>
        </p:nvSpPr>
        <p:spPr>
          <a:xfrm>
            <a:off x="4887468" y="2048256"/>
            <a:ext cx="571500" cy="219456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Control SC-28"/>
          <p:cNvSpPr txBox="1"/>
          <p:nvPr/>
        </p:nvSpPr>
        <p:spPr>
          <a:xfrm>
            <a:off x="4887468" y="2048256"/>
            <a:ext cx="571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SC-28</a:t>
            </a:r>
            <a:endParaRPr lang="en-US" sz="1000" dirty="0"/>
          </a:p>
        </p:txBody>
      </p:sp>
      <p:sp>
        <p:nvSpPr>
          <p:cNvPr id="14" name="Code"/>
          <p:cNvSpPr txBox="1"/>
          <p:nvPr/>
        </p:nvSpPr>
        <p:spPr>
          <a:xfrm>
            <a:off x="914400" y="2532888"/>
            <a:ext cx="521208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"aws_s3_bucket" "evidence"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bucket = "grc-evidence-vault"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"aws_s3_bucket_server_side_encryption_configuration" "e"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bucket = aws_s3_bucket.evidence.id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rule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apply_server_side_encryption_by_default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sse_algorithm =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"aws:kms"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bucket_key_enabled =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tep number 1 chip"/>
          <p:cNvSpPr/>
          <p:nvPr/>
        </p:nvSpPr>
        <p:spPr>
          <a:xfrm>
            <a:off x="6858000" y="2057400"/>
            <a:ext cx="338328" cy="219456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Step number 1"/>
          <p:cNvSpPr txBox="1"/>
          <p:nvPr/>
        </p:nvSpPr>
        <p:spPr>
          <a:xfrm>
            <a:off x="6858000" y="2057400"/>
            <a:ext cx="338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17" name="Step label 1"/>
          <p:cNvSpPr txBox="1"/>
          <p:nvPr/>
        </p:nvSpPr>
        <p:spPr>
          <a:xfrm>
            <a:off x="7498080" y="2057400"/>
            <a:ext cx="4053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control</a:t>
            </a:r>
            <a:endParaRPr lang="en-US" sz="900" dirty="0"/>
          </a:p>
        </p:txBody>
      </p:sp>
      <p:sp>
        <p:nvSpPr>
          <p:cNvPr id="18" name="Step value 1"/>
          <p:cNvSpPr txBox="1"/>
          <p:nvPr/>
        </p:nvSpPr>
        <p:spPr>
          <a:xfrm>
            <a:off x="7498080" y="2331720"/>
            <a:ext cx="4053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Encryption at rest for evidence storage</a:t>
            </a:r>
            <a:endParaRPr lang="en-US" sz="1600" dirty="0"/>
          </a:p>
        </p:txBody>
      </p:sp>
      <p:sp>
        <p:nvSpPr>
          <p:cNvPr id="19" name="Step number 2 chip"/>
          <p:cNvSpPr/>
          <p:nvPr/>
        </p:nvSpPr>
        <p:spPr>
          <a:xfrm>
            <a:off x="6858000" y="3154680"/>
            <a:ext cx="338328" cy="219456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Step number 2"/>
          <p:cNvSpPr txBox="1"/>
          <p:nvPr/>
        </p:nvSpPr>
        <p:spPr>
          <a:xfrm>
            <a:off x="6858000" y="3154680"/>
            <a:ext cx="338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21" name="Step label 2"/>
          <p:cNvSpPr txBox="1"/>
          <p:nvPr/>
        </p:nvSpPr>
        <p:spPr>
          <a:xfrm>
            <a:off x="7498080" y="3154680"/>
            <a:ext cx="4053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proof</a:t>
            </a:r>
            <a:endParaRPr lang="en-US" sz="900" dirty="0"/>
          </a:p>
        </p:txBody>
      </p:sp>
      <p:sp>
        <p:nvSpPr>
          <p:cNvPr id="22" name="Step value 2"/>
          <p:cNvSpPr txBox="1"/>
          <p:nvPr/>
        </p:nvSpPr>
        <p:spPr>
          <a:xfrm>
            <a:off x="7498080" y="3429000"/>
            <a:ext cx="4053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Terraform plan and apply, then a signed state file</a:t>
            </a:r>
            <a:endParaRPr lang="en-US" sz="1600" dirty="0"/>
          </a:p>
        </p:txBody>
      </p:sp>
      <p:sp>
        <p:nvSpPr>
          <p:cNvPr id="23" name="Step number 3 chip"/>
          <p:cNvSpPr/>
          <p:nvPr/>
        </p:nvSpPr>
        <p:spPr>
          <a:xfrm>
            <a:off x="6858000" y="4251960"/>
            <a:ext cx="338328" cy="219456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Step number 3"/>
          <p:cNvSpPr txBox="1"/>
          <p:nvPr/>
        </p:nvSpPr>
        <p:spPr>
          <a:xfrm>
            <a:off x="6858000" y="4251960"/>
            <a:ext cx="338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25" name="Step label 3"/>
          <p:cNvSpPr txBox="1"/>
          <p:nvPr/>
        </p:nvSpPr>
        <p:spPr>
          <a:xfrm>
            <a:off x="7498080" y="4251960"/>
            <a:ext cx="4053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evidence</a:t>
            </a:r>
            <a:endParaRPr lang="en-US" sz="900" dirty="0"/>
          </a:p>
        </p:txBody>
      </p:sp>
      <p:sp>
        <p:nvSpPr>
          <p:cNvPr id="26" name="Step value 3"/>
          <p:cNvSpPr txBox="1"/>
          <p:nvPr/>
        </p:nvSpPr>
        <p:spPr>
          <a:xfrm>
            <a:off x="7498080" y="4526280"/>
            <a:ext cx="4053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Posted to the compliance vault on every merge to main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3737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shift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-100" kern="0" dirty="0">
                <a:solidFill>
                  <a:schemeClr val="tx1"/>
                </a:solidFill>
              </a:rPr>
              <a:t>Checkbox vs engineered</a:t>
            </a:r>
            <a:endParaRPr lang="en-US" sz="3600" dirty="0"/>
          </a:p>
        </p:txBody>
      </p:sp>
      <p:sp>
        <p:nvSpPr>
          <p:cNvPr id="4" name="Comparison table"/>
          <p:cNvSpPr/>
          <p:nvPr/>
        </p:nvSpPr>
        <p:spPr>
          <a:xfrm>
            <a:off x="640080" y="1965960"/>
            <a:ext cx="10911535" cy="4160520"/>
          </a:xfrm>
          <a:prstGeom prst="roundRect">
            <a:avLst>
              <a:gd name="adj" fmla="val 263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Header rule"/>
          <p:cNvSpPr/>
          <p:nvPr/>
        </p:nvSpPr>
        <p:spPr>
          <a:xfrm>
            <a:off x="640080" y="2423160"/>
            <a:ext cx="1091153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6" name="Header 1"/>
          <p:cNvSpPr txBox="1"/>
          <p:nvPr/>
        </p:nvSpPr>
        <p:spPr>
          <a:xfrm>
            <a:off x="1005840" y="1965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Dimension</a:t>
            </a:r>
            <a:endParaRPr lang="en-US" sz="1000" dirty="0"/>
          </a:p>
        </p:txBody>
      </p:sp>
      <p:sp>
        <p:nvSpPr>
          <p:cNvPr id="7" name="Header 2"/>
          <p:cNvSpPr txBox="1"/>
          <p:nvPr/>
        </p:nvSpPr>
        <p:spPr>
          <a:xfrm>
            <a:off x="3017520" y="1965960"/>
            <a:ext cx="408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Traditional GRC</a:t>
            </a:r>
            <a:endParaRPr lang="en-US" sz="1000" dirty="0"/>
          </a:p>
        </p:txBody>
      </p:sp>
      <p:sp>
        <p:nvSpPr>
          <p:cNvPr id="8" name="Header 3"/>
          <p:cNvSpPr txBox="1"/>
          <p:nvPr/>
        </p:nvSpPr>
        <p:spPr>
          <a:xfrm>
            <a:off x="7467448" y="1965960"/>
            <a:ext cx="408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GRC engineering</a:t>
            </a:r>
            <a:endParaRPr lang="en-US" sz="1000" dirty="0"/>
          </a:p>
        </p:txBody>
      </p:sp>
      <p:sp>
        <p:nvSpPr>
          <p:cNvPr id="9" name="Dimension 1"/>
          <p:cNvSpPr txBox="1"/>
          <p:nvPr/>
        </p:nvSpPr>
        <p:spPr>
          <a:xfrm>
            <a:off x="1005840" y="2423160"/>
            <a:ext cx="2011680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Evidence</a:t>
            </a:r>
            <a:endParaRPr lang="en-US" sz="1500" dirty="0"/>
          </a:p>
        </p:txBody>
      </p:sp>
      <p:sp>
        <p:nvSpPr>
          <p:cNvPr id="10" name="Traditional 1"/>
          <p:cNvSpPr txBox="1"/>
          <p:nvPr/>
        </p:nvSpPr>
        <p:spPr>
          <a:xfrm>
            <a:off x="3017520" y="2423160"/>
            <a:ext cx="4084168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Screenshots in a folder</a:t>
            </a:r>
            <a:endParaRPr lang="en-US" sz="1500" dirty="0"/>
          </a:p>
        </p:txBody>
      </p:sp>
      <p:sp>
        <p:nvSpPr>
          <p:cNvPr id="11" name="Engineered 1"/>
          <p:cNvSpPr txBox="1"/>
          <p:nvPr/>
        </p:nvSpPr>
        <p:spPr>
          <a:xfrm>
            <a:off x="7467448" y="2423160"/>
            <a:ext cx="3901288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API-pulled, hash-signed, timestamped</a:t>
            </a:r>
            <a:endParaRPr lang="en-US" sz="1500" dirty="0"/>
          </a:p>
        </p:txBody>
      </p:sp>
      <p:sp>
        <p:nvSpPr>
          <p:cNvPr id="12" name="Row rule 1"/>
          <p:cNvSpPr/>
          <p:nvPr/>
        </p:nvSpPr>
        <p:spPr>
          <a:xfrm>
            <a:off x="1005840" y="3348990"/>
            <a:ext cx="101800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3" name="Dimension 2"/>
          <p:cNvSpPr txBox="1"/>
          <p:nvPr/>
        </p:nvSpPr>
        <p:spPr>
          <a:xfrm>
            <a:off x="1005840" y="3348990"/>
            <a:ext cx="2011680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Cadence</a:t>
            </a:r>
            <a:endParaRPr lang="en-US" sz="1500" dirty="0"/>
          </a:p>
        </p:txBody>
      </p:sp>
      <p:sp>
        <p:nvSpPr>
          <p:cNvPr id="14" name="Traditional 2"/>
          <p:cNvSpPr txBox="1"/>
          <p:nvPr/>
        </p:nvSpPr>
        <p:spPr>
          <a:xfrm>
            <a:off x="3017520" y="3348990"/>
            <a:ext cx="4084168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Once a year at audit time</a:t>
            </a:r>
            <a:endParaRPr lang="en-US" sz="1500" dirty="0"/>
          </a:p>
        </p:txBody>
      </p:sp>
      <p:sp>
        <p:nvSpPr>
          <p:cNvPr id="15" name="Engineered 2"/>
          <p:cNvSpPr txBox="1"/>
          <p:nvPr/>
        </p:nvSpPr>
        <p:spPr>
          <a:xfrm>
            <a:off x="7467448" y="3348990"/>
            <a:ext cx="3901288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Continuous, every merge to main</a:t>
            </a:r>
            <a:endParaRPr lang="en-US" sz="1500" dirty="0"/>
          </a:p>
        </p:txBody>
      </p:sp>
      <p:sp>
        <p:nvSpPr>
          <p:cNvPr id="16" name="Row rule 2"/>
          <p:cNvSpPr/>
          <p:nvPr/>
        </p:nvSpPr>
        <p:spPr>
          <a:xfrm>
            <a:off x="1005840" y="4274820"/>
            <a:ext cx="101800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7" name="Dimension 3"/>
          <p:cNvSpPr txBox="1"/>
          <p:nvPr/>
        </p:nvSpPr>
        <p:spPr>
          <a:xfrm>
            <a:off x="1005840" y="4274820"/>
            <a:ext cx="2011680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Proof</a:t>
            </a:r>
            <a:endParaRPr lang="en-US" sz="1500" dirty="0"/>
          </a:p>
        </p:txBody>
      </p:sp>
      <p:sp>
        <p:nvSpPr>
          <p:cNvPr id="18" name="Traditional 3"/>
          <p:cNvSpPr txBox="1"/>
          <p:nvPr/>
        </p:nvSpPr>
        <p:spPr>
          <a:xfrm>
            <a:off x="3017520" y="4274820"/>
            <a:ext cx="4084168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PDFs and Word docs</a:t>
            </a:r>
            <a:endParaRPr lang="en-US" sz="1500" dirty="0"/>
          </a:p>
        </p:txBody>
      </p:sp>
      <p:sp>
        <p:nvSpPr>
          <p:cNvPr id="19" name="Engineered 3"/>
          <p:cNvSpPr txBox="1"/>
          <p:nvPr/>
        </p:nvSpPr>
        <p:spPr>
          <a:xfrm>
            <a:off x="7467448" y="4274820"/>
            <a:ext cx="3901288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Terraform state and OSCAL components</a:t>
            </a:r>
            <a:endParaRPr lang="en-US" sz="1500" dirty="0"/>
          </a:p>
        </p:txBody>
      </p:sp>
      <p:sp>
        <p:nvSpPr>
          <p:cNvPr id="20" name="Row rule 3"/>
          <p:cNvSpPr/>
          <p:nvPr/>
        </p:nvSpPr>
        <p:spPr>
          <a:xfrm>
            <a:off x="1005840" y="5200650"/>
            <a:ext cx="101800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1" name="Dimension 4"/>
          <p:cNvSpPr txBox="1"/>
          <p:nvPr/>
        </p:nvSpPr>
        <p:spPr>
          <a:xfrm>
            <a:off x="1005840" y="5200650"/>
            <a:ext cx="2011680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Owner</a:t>
            </a:r>
            <a:endParaRPr lang="en-US" sz="1500" dirty="0"/>
          </a:p>
        </p:txBody>
      </p:sp>
      <p:sp>
        <p:nvSpPr>
          <p:cNvPr id="22" name="Traditional 4"/>
          <p:cNvSpPr txBox="1"/>
          <p:nvPr/>
        </p:nvSpPr>
        <p:spPr>
          <a:xfrm>
            <a:off x="3017520" y="5200650"/>
            <a:ext cx="4084168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GRC team in a silo</a:t>
            </a:r>
            <a:endParaRPr lang="en-US" sz="1500" dirty="0"/>
          </a:p>
        </p:txBody>
      </p:sp>
      <p:sp>
        <p:nvSpPr>
          <p:cNvPr id="23" name="Engineered 4"/>
          <p:cNvSpPr txBox="1"/>
          <p:nvPr/>
        </p:nvSpPr>
        <p:spPr>
          <a:xfrm>
            <a:off x="7467448" y="5200650"/>
            <a:ext cx="3901288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engineers shipping the system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3737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framework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-100" kern="0" dirty="0">
                <a:solidFill>
                  <a:schemeClr val="tx1"/>
                </a:solidFill>
              </a:rPr>
              <a:t>Three pillars of GRC engineering</a:t>
            </a:r>
            <a:endParaRPr lang="en-US" sz="3600" dirty="0"/>
          </a:p>
        </p:txBody>
      </p:sp>
      <p:sp>
        <p:nvSpPr>
          <p:cNvPr id="4" name="Pillar card 1"/>
          <p:cNvSpPr/>
          <p:nvPr/>
        </p:nvSpPr>
        <p:spPr>
          <a:xfrm>
            <a:off x="640080" y="1965960"/>
            <a:ext cx="3454298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Pillar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31720"/>
            <a:ext cx="292608" cy="292608"/>
          </a:xfrm>
          <a:prstGeom prst="rect">
            <a:avLst/>
          </a:prstGeom>
        </p:spPr>
      </p:pic>
      <p:sp>
        <p:nvSpPr>
          <p:cNvPr id="6" name="Pillar number 1 chip"/>
          <p:cNvSpPr/>
          <p:nvPr/>
        </p:nvSpPr>
        <p:spPr>
          <a:xfrm>
            <a:off x="3390290" y="2368296"/>
            <a:ext cx="338328" cy="219456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Pillar number 1"/>
          <p:cNvSpPr txBox="1"/>
          <p:nvPr/>
        </p:nvSpPr>
        <p:spPr>
          <a:xfrm>
            <a:off x="3390290" y="2368296"/>
            <a:ext cx="338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Pillar title 1"/>
          <p:cNvSpPr txBox="1"/>
          <p:nvPr/>
        </p:nvSpPr>
        <p:spPr>
          <a:xfrm>
            <a:off x="1005840" y="306324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-100" kern="0" dirty="0">
                <a:solidFill>
                  <a:schemeClr val="tx1"/>
                </a:solidFill>
              </a:rPr>
              <a:t>Automate</a:t>
            </a:r>
            <a:endParaRPr lang="en-US" sz="2600" dirty="0"/>
          </a:p>
        </p:txBody>
      </p:sp>
      <p:sp>
        <p:nvSpPr>
          <p:cNvPr id="9" name="Pillar body 1"/>
          <p:cNvSpPr txBox="1"/>
          <p:nvPr/>
        </p:nvSpPr>
        <p:spPr>
          <a:xfrm>
            <a:off x="1005840" y="3703320"/>
            <a:ext cx="27227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Infrastructure and policy as code. Controls ship with the system, not a spreadsheet.</a:t>
            </a:r>
            <a:endParaRPr lang="en-US" sz="1400" dirty="0"/>
          </a:p>
        </p:txBody>
      </p:sp>
      <p:sp>
        <p:nvSpPr>
          <p:cNvPr id="10" name="Pillar card 2"/>
          <p:cNvSpPr/>
          <p:nvPr/>
        </p:nvSpPr>
        <p:spPr>
          <a:xfrm>
            <a:off x="4368698" y="1965960"/>
            <a:ext cx="3454298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1" name="Pillar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458" y="2331720"/>
            <a:ext cx="292608" cy="292608"/>
          </a:xfrm>
          <a:prstGeom prst="rect">
            <a:avLst/>
          </a:prstGeom>
        </p:spPr>
      </p:pic>
      <p:sp>
        <p:nvSpPr>
          <p:cNvPr id="12" name="Pillar number 2 chip"/>
          <p:cNvSpPr/>
          <p:nvPr/>
        </p:nvSpPr>
        <p:spPr>
          <a:xfrm>
            <a:off x="7118909" y="2368296"/>
            <a:ext cx="338328" cy="219456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Pillar number 2"/>
          <p:cNvSpPr txBox="1"/>
          <p:nvPr/>
        </p:nvSpPr>
        <p:spPr>
          <a:xfrm>
            <a:off x="7118909" y="2368296"/>
            <a:ext cx="338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Pillar title 2"/>
          <p:cNvSpPr txBox="1"/>
          <p:nvPr/>
        </p:nvSpPr>
        <p:spPr>
          <a:xfrm>
            <a:off x="4734458" y="306324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-100" kern="0" dirty="0">
                <a:solidFill>
                  <a:schemeClr val="tx1"/>
                </a:solidFill>
              </a:rPr>
              <a:t>Evidence</a:t>
            </a:r>
            <a:endParaRPr lang="en-US" sz="2600" dirty="0"/>
          </a:p>
        </p:txBody>
      </p:sp>
      <p:sp>
        <p:nvSpPr>
          <p:cNvPr id="15" name="Pillar body 2"/>
          <p:cNvSpPr txBox="1"/>
          <p:nvPr/>
        </p:nvSpPr>
        <p:spPr>
          <a:xfrm>
            <a:off x="4734458" y="3703320"/>
            <a:ext cx="27227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Machine-verifiable receipts. OSCAL, signed artifacts, audit-ready by default.</a:t>
            </a:r>
            <a:endParaRPr lang="en-US" sz="1400" dirty="0"/>
          </a:p>
        </p:txBody>
      </p:sp>
      <p:sp>
        <p:nvSpPr>
          <p:cNvPr id="16" name="Pillar card 3"/>
          <p:cNvSpPr/>
          <p:nvPr/>
        </p:nvSpPr>
        <p:spPr>
          <a:xfrm>
            <a:off x="8097317" y="1965960"/>
            <a:ext cx="3454298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7" name="Pillar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077" y="2331720"/>
            <a:ext cx="292608" cy="292608"/>
          </a:xfrm>
          <a:prstGeom prst="rect">
            <a:avLst/>
          </a:prstGeom>
        </p:spPr>
      </p:pic>
      <p:sp>
        <p:nvSpPr>
          <p:cNvPr id="18" name="Pillar number 3 chip"/>
          <p:cNvSpPr/>
          <p:nvPr/>
        </p:nvSpPr>
        <p:spPr>
          <a:xfrm>
            <a:off x="10847527" y="2368296"/>
            <a:ext cx="338328" cy="219456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Pillar number 3"/>
          <p:cNvSpPr txBox="1"/>
          <p:nvPr/>
        </p:nvSpPr>
        <p:spPr>
          <a:xfrm>
            <a:off x="10847527" y="2368296"/>
            <a:ext cx="338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Pillar title 3"/>
          <p:cNvSpPr txBox="1"/>
          <p:nvPr/>
        </p:nvSpPr>
        <p:spPr>
          <a:xfrm>
            <a:off x="8463077" y="306324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-100" kern="0" dirty="0">
                <a:solidFill>
                  <a:schemeClr val="tx1"/>
                </a:solidFill>
              </a:rPr>
              <a:t>Continuous</a:t>
            </a:r>
            <a:endParaRPr lang="en-US" sz="2600" dirty="0"/>
          </a:p>
        </p:txBody>
      </p:sp>
      <p:sp>
        <p:nvSpPr>
          <p:cNvPr id="21" name="Pillar body 3"/>
          <p:cNvSpPr txBox="1"/>
          <p:nvPr/>
        </p:nvSpPr>
        <p:spPr>
          <a:xfrm>
            <a:off x="8463077" y="3703320"/>
            <a:ext cx="27227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Every merge is an audit event. No more point-in-time theater.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3737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40080" y="1691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 to build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40080" y="2057400"/>
            <a:ext cx="10789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000" spc="-200" kern="0" dirty="0">
                <a:solidFill>
                  <a:schemeClr val="tx1"/>
                </a:solidFill>
              </a:rPr>
              <a:t>Stop scrolling,</a:t>
            </a:r>
            <a:endParaRPr lang="en-US" sz="6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0" spc="-200" kern="0" dirty="0">
                <a:solidFill>
                  <a:schemeClr val="tx1"/>
                </a:solidFill>
              </a:rPr>
              <a:t>start engineering</a:t>
            </a:r>
            <a:endParaRPr lang="en-US" sz="6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64008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A clear path forward and a crew to build it with. Join the Club, ship the work, level up.</a:t>
            </a:r>
            <a:endParaRPr lang="en-US" sz="1800" dirty="0"/>
          </a:p>
        </p:txBody>
      </p:sp>
      <p:sp>
        <p:nvSpPr>
          <p:cNvPr id="5" name="Primary CTA"/>
          <p:cNvSpPr/>
          <p:nvPr/>
        </p:nvSpPr>
        <p:spPr>
          <a:xfrm>
            <a:off x="640080" y="5120640"/>
            <a:ext cx="219456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rimary CTA label"/>
          <p:cNvSpPr txBox="1"/>
          <p:nvPr/>
        </p:nvSpPr>
        <p:spPr>
          <a:xfrm>
            <a:off x="640080" y="5120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Join the Club  →</a:t>
            </a:r>
            <a:endParaRPr lang="en-US" sz="1400" dirty="0"/>
          </a:p>
        </p:txBody>
      </p:sp>
      <p:sp>
        <p:nvSpPr>
          <p:cNvPr id="7" name="Secondary CTA"/>
          <p:cNvSpPr/>
          <p:nvPr/>
        </p:nvSpPr>
        <p:spPr>
          <a:xfrm>
            <a:off x="3017520" y="5120640"/>
            <a:ext cx="21945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Secondary CTA label"/>
          <p:cNvSpPr txBox="1"/>
          <p:nvPr/>
        </p:nvSpPr>
        <p:spPr>
          <a:xfrm>
            <a:off x="3017520" y="5120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grcengclub.com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C Engineering Club Light">
  <a:themeElements>
    <a:clrScheme name="GRC Engineering Club Light">
      <a:dk1>
        <a:srgbClr val="171717"/>
      </a:dk1>
      <a:lt1>
        <a:srgbClr val="FFFFFF"/>
      </a:lt1>
      <a:dk2>
        <a:srgbClr val="525252"/>
      </a:dk2>
      <a:lt2>
        <a:srgbClr val="F5F5F5"/>
      </a:lt2>
      <a:accent1>
        <a:srgbClr val="E8650A"/>
      </a:accent1>
      <a:accent2>
        <a:srgbClr val="C45200"/>
      </a:accent2>
      <a:accent3>
        <a:srgbClr val="737373"/>
      </a:accent3>
      <a:accent4>
        <a:srgbClr val="EFEFEF"/>
      </a:accent4>
      <a:accent5>
        <a:srgbClr val="E5E5E5"/>
      </a:accent5>
      <a:accent6>
        <a:srgbClr val="111110"/>
      </a:accent6>
      <a:hlink>
        <a:srgbClr val="C45200"/>
      </a:hlink>
      <a:folHlink>
        <a:srgbClr val="C45200"/>
      </a:folHlink>
    </a:clrScheme>
    <a:fontScheme name="GRC Engineering Club Light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GRC Engineering Club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GRC Engineering Club — Light Slide Templates</dc:title>
  <dc:subject>PptxGenJS Presentation</dc:subject>
  <dc:creator>GRC Engineering Club</dc:creator>
  <cp:lastModifiedBy>GRC Engineering Club</cp:lastModifiedBy>
  <cp:revision>1</cp:revision>
  <dcterms:created xsi:type="dcterms:W3CDTF">2026-11-01T21:02:26Z</dcterms:created>
  <dcterms:modified xsi:type="dcterms:W3CDTF">2026-11-01T21:02:26Z</dcterms:modified>
</cp:coreProperties>
</file>